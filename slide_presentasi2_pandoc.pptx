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Optimalisasi Prosedur &amp; Alur Kerja Terintegrasi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 Pelatihan Level 4 (Mastery) – Transformasi Tata Kelola Kearsipan</a:t>
            </a:r>
            <a:br/>
            <a:r>
              <a:rPr b="1"/>
              <a:t>PT PLN (Persero)</a:t>
            </a:r>
            <a:br/>
            <a:br/>
            <a:r>
              <a:rPr/>
              <a:t>Fasilitator Utama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April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Sasaran &amp; Prasyarat Peserta</a:t>
                </a:r>
              </a:p>
              <a:p>
                <a:pPr lvl="0" indent="0" marL="0">
                  <a:buNone/>
                </a:pPr>
                <a:r>
                  <a:rPr/>
                  <a:t>Modul ini ditujukan secara khusus bagi:</a:t>
                </a:r>
              </a:p>
              <a:p>
                <a:pPr lvl="0"/>
                <a:r>
                  <a:rPr b="1"/>
                  <a:t>Manajemen Atas (MA)</a:t>
                </a:r>
                <a:r>
                  <a:rPr/>
                  <a:t> PT PLN (Persero).</a:t>
                </a:r>
              </a:p>
              <a:p>
                <a:pPr lvl="0"/>
                <a:r>
                  <a:rPr/>
                  <a:t>Pemilik Proses Bisnis (</a:t>
                </a:r>
                <a:r>
                  <a:rPr i="1"/>
                  <a:t>Business Process Owner</a:t>
                </a:r>
                <a:r>
                  <a:rPr/>
                  <a:t>).</a:t>
                </a:r>
              </a:p>
              <a:p>
                <a:pPr lvl="0"/>
                <a:r>
                  <a:rPr/>
                  <a:t>Pengambil Kebijakan Tata Kelola Kearsipan &amp; Transformasi Digital.</a:t>
                </a:r>
              </a:p>
              <a:p>
                <a:pPr lvl="0" indent="0" marL="0">
                  <a:buNone/>
                </a:pPr>
                <a:r>
                  <a:rPr/>
                  <a:t>Untuk efektivitas pembelajaran, peserta diharapkan:</a:t>
                </a:r>
              </a:p>
              <a:p>
                <a:pPr lvl="0"/>
                <a:r>
                  <a:rPr/>
                  <a:t>Memahami dasar kearsipan (Level 2 atau pengalaman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≥</m:t>
                    </m:r>
                  </m:oMath>
                </a14:m>
                <a:r>
                  <a:rPr/>
                  <a:t> 2 tahun).</a:t>
                </a:r>
              </a:p>
              <a:p>
                <a:pPr lvl="0"/>
                <a:r>
                  <a:rPr/>
                  <a:t>Telah mengikuti </a:t>
                </a:r>
                <a:r>
                  <a:rPr b="1"/>
                  <a:t>Modul 4.1</a:t>
                </a:r>
                <a:r>
                  <a:rPr/>
                  <a:t> (Analisis Sistem) &amp; </a:t>
                </a:r>
                <a:r>
                  <a:rPr b="1"/>
                  <a:t>4.2</a:t>
                </a:r>
                <a:r>
                  <a:rPr/>
                  <a:t> (Arsitektur Terintegrasi).</a:t>
                </a:r>
              </a:p>
              <a:p>
                <a:pPr lvl="0"/>
                <a:r>
                  <a:rPr/>
                  <a:t>Membawa 1 contoh prosedur riil unit kerja untuk studi kasus workshop.</a:t>
                </a:r>
              </a:p>
              <a:p>
                <a:pPr lvl="0"/>
                <a:r>
                  <a:rPr/>
                  <a:t>Meninjau </a:t>
                </a:r>
                <a:r>
                  <a:rPr i="1"/>
                  <a:t>World Bank RM Roadmap</a:t>
                </a:r>
                <a:r>
                  <a:rPr/>
                  <a:t> &amp; Perka ANRI No. 6/2021.</a:t>
                </a:r>
              </a:p>
              <a:p>
                <a:pPr lvl="0" indent="0" marL="0">
                  <a:buNone/>
                </a:pPr>
                <a:r>
                  <a:rPr/>
                  <a:t>Tujuan Pembelajaran &amp; Hasil Belajar</a:t>
                </a:r>
              </a:p>
              <a:p>
                <a:pPr lvl="0" indent="0" marL="0">
                  <a:buNone/>
                </a:pPr>
                <a:r>
                  <a:rPr/>
                  <a:t>Setelah menyelesaikan pelatihan ini, peserta ditargetkan mampu:</a:t>
                </a:r>
              </a:p>
              <a:p>
                <a:pPr lvl="0" indent="0" marL="0">
                  <a:buNone/>
                </a:pPr>
                <a:r>
                  <a:rPr b="1"/>
                  <a:t>Mengevaluasi Prosedur</a:t>
                </a:r>
                <a:br/>
                <a:r>
                  <a:rPr/>
                  <a:t>Mengevaluasi prosedur kearsipan yang ada (</a:t>
                </a:r>
                <a:r>
                  <a:rPr i="1"/>
                  <a:t>as-is</a:t>
                </a:r>
                <a:r>
                  <a:rPr/>
                  <a:t>) dan mengidentifikasi area yang dapat dioptimalkan melalui integrasi.</a:t>
                </a:r>
              </a:p>
              <a:p>
                <a:pPr lvl="0" indent="0" marL="0">
                  <a:buNone/>
                </a:pPr>
                <a:r>
                  <a:rPr b="1"/>
                  <a:t>Merancang Alur Kerja</a:t>
                </a:r>
                <a:br/>
                <a:r>
                  <a:rPr/>
                  <a:t>Merancang alur kerja baru yang terintegrasi (To-Be), termasuk mekanisme penciptaan arsip otomatis dari aplikasi korporat.</a:t>
                </a:r>
              </a:p>
              <a:p>
                <a:pPr lvl="0" indent="0" marL="0">
                  <a:buNone/>
                </a:pPr>
                <a:r>
                  <a:rPr b="1"/>
                  <a:t>Merumuskan SOP Digital</a:t>
                </a:r>
                <a:br/>
                <a:r>
                  <a:rPr/>
                  <a:t>Merumuskan Standard Operating Procedure (SOP) digital yang mengintegrasikan peran manusia, </a:t>
                </a:r>
                <a:r>
                  <a:rPr i="1"/>
                  <a:t>audit trail</a:t>
                </a:r>
                <a:r>
                  <a:rPr/>
                  <a:t> sistem, dan keamanan.</a:t>
                </a:r>
              </a:p>
              <a:p>
                <a:pPr lvl="0" indent="0" marL="0">
                  <a:buNone/>
                </a:pPr>
                <a:r>
                  <a:rPr b="1"/>
                  <a:t>Menganalisis Efektivitas</a:t>
                </a:r>
                <a:br/>
                <a:r>
                  <a:rPr/>
                  <a:t>Menganalisis potensi peningkatan layanan dan efisiensi melalui pengukuran indikator kinerja (</a:t>
                </a:r>
                <a:r>
                  <a:rPr i="1"/>
                  <a:t>KPI</a:t>
                </a:r>
                <a:r>
                  <a:rPr/>
                  <a:t>) termonitor.</a:t>
                </a:r>
              </a:p>
              <a:p>
                <a:pPr lvl="0" indent="0" marL="0">
                  <a:buNone/>
                </a:pPr>
                <a:r>
                  <a:rPr/>
                  <a:t>Manfaat bagi Peserta Diklat</a:t>
                </a:r>
              </a:p>
              <a:p>
                <a:pPr lvl="0"/>
                <a:r>
                  <a:rPr b="1"/>
                  <a:t>Dokumen Siap Implementasi:</a:t>
                </a:r>
                <a:r>
                  <a:rPr/>
                  <a:t> Peserta membawa 4 portofolio kerja (Matriks Optimasi, BPMN To-Be, Draft SOP Digital, KPI Tracker) yang dapat langsung diusulkan sebagai </a:t>
                </a:r>
                <a:r>
                  <a:rPr i="1"/>
                  <a:t>pilot project</a:t>
                </a:r>
                <a:r>
                  <a:rPr/>
                  <a:t>.</a:t>
                </a:r>
              </a:p>
              <a:p>
                <a:pPr lvl="0"/>
                <a:r>
                  <a:rPr b="1"/>
                  <a:t>Penguasaan Standar Internasional:</a:t>
                </a:r>
                <a:r>
                  <a:rPr/>
                  <a:t> Memahami penerapan ISO 15489 &amp; PARBICA Toolkit dalam konteks operasional PLN.</a:t>
                </a:r>
              </a:p>
              <a:p>
                <a:pPr lvl="0"/>
                <a:r>
                  <a:rPr b="1"/>
                  <a:t>Kapabilitas Evaluasi:</a:t>
                </a:r>
                <a:r>
                  <a:rPr/>
                  <a:t> Mampu mengidentifikasi inefisiensi prosedur secara mandiri.</a:t>
                </a:r>
              </a:p>
              <a:p>
                <a:pPr lvl="0"/>
                <a:r>
                  <a:rPr b="1"/>
                  <a:t>Efisiensi Operasional:</a:t>
                </a:r>
                <a:r>
                  <a:rPr/>
                  <a:t> Potensi percepatan siklus kearsipan dari 3–5 hari menjadi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&lt;</m:t>
                    </m:r>
                  </m:oMath>
                </a14:m>
                <a:r>
                  <a:rPr/>
                  <a:t>24 jam.</a:t>
                </a:r>
              </a:p>
              <a:p>
                <a:pPr lvl="0"/>
                <a:r>
                  <a:rPr b="1"/>
                  <a:t>Mitigasi Risiko Kepatuhan:</a:t>
                </a:r>
                <a:r>
                  <a:rPr/>
                  <a:t> Kesiapan audit melalui </a:t>
                </a:r>
                <a:r>
                  <a:rPr i="1"/>
                  <a:t>audit trail</a:t>
                </a:r>
                <a:r>
                  <a:rPr/>
                  <a:t> otomatis dan metadata terstandar.</a:t>
                </a:r>
              </a:p>
              <a:p>
                <a:pPr lvl="0"/>
                <a:r>
                  <a:rPr b="1"/>
                  <a:t>Penghematan Biaya:</a:t>
                </a:r>
                <a:r>
                  <a:rPr/>
                  <a:t> Estimasi ROI hingga 550% melalui eliminasi proses manual dan redundansi data.</a:t>
                </a:r>
              </a:p>
              <a:p>
                <a:pPr lvl="0" indent="0" marL="0">
                  <a:buNone/>
                </a:pPr>
                <a:r>
                  <a:rPr/>
                  <a:t>Agenda Pembelajaran (Outline Materi)</a:t>
                </a:r>
              </a:p>
              <a:p>
                <a:pPr lvl="0" indent="0" marL="0">
                  <a:buNone/>
                </a:pPr>
                <a:r>
                  <a:rPr b="1"/>
                  <a:t>Pendahuluan &amp; Urgensi</a:t>
                </a:r>
                <a:br/>
                <a:r>
                  <a:rPr/>
                  <a:t>Visi Ekosistem Kearsipan Digital &amp; Biaya Tersembunyi Proses Manual.</a:t>
                </a:r>
                <a:br/>
              </a:p>
              <a:p>
                <a:pPr lvl="0" indent="0" marL="0">
                  <a:buNone/>
                </a:pPr>
                <a:r>
                  <a:rPr b="1"/>
                  <a:t>Landasan Internasional</a:t>
                </a:r>
                <a:br/>
                <a:r>
                  <a:rPr/>
                  <a:t>Metodologi PARBICA, Teori </a:t>
                </a:r>
                <a:r>
                  <a:rPr i="1"/>
                  <a:t>Continuum</a:t>
                </a:r>
                <a:r>
                  <a:rPr/>
                  <a:t>, &amp; Tata Kelola ISO 15489.</a:t>
                </a:r>
                <a:br/>
              </a:p>
              <a:p>
                <a:pPr lvl="0" indent="0" marL="0">
                  <a:buNone/>
                </a:pPr>
                <a:r>
                  <a:rPr b="1"/>
                  <a:t>Evaluasi Prosedur Lapangan</a:t>
                </a:r>
                <a:br/>
                <a:r>
                  <a:rPr/>
                  <a:t>Identifikasi Titik Gesekan (</a:t>
                </a:r>
                <a:r>
                  <a:rPr i="1"/>
                  <a:t>Friction</a:t>
                </a:r>
                <a:r>
                  <a:rPr/>
                  <a:t>) &amp; Pemodelan BPMN Saat Ini.</a:t>
                </a:r>
              </a:p>
              <a:p>
                <a:pPr lvl="0" indent="0" marL="0">
                  <a:buNone/>
                </a:pPr>
                <a:r>
                  <a:rPr b="1"/>
                  <a:t>Perancangan Alur Terintegrasi</a:t>
                </a:r>
                <a:br/>
                <a:r>
                  <a:rPr/>
                  <a:t>Model Target (</a:t>
                </a:r>
                <a:r>
                  <a:rPr i="1"/>
                  <a:t>To-Be</a:t>
                </a:r>
                <a:r>
                  <a:rPr/>
                  <a:t>), Pola Otomasi, &amp; Workshop BPMN.</a:t>
                </a:r>
                <a:br/>
              </a:p>
              <a:p>
                <a:pPr lvl="0" indent="0" marL="0">
                  <a:buNone/>
                </a:pPr>
                <a:r>
                  <a:rPr b="1"/>
                  <a:t>Penyusunan SOP Digital</a:t>
                </a:r>
                <a:br/>
                <a:r>
                  <a:rPr/>
                  <a:t>Struktur SOP 8 Komponen, 14 Field Metadata, &amp; Legalitas TTE.</a:t>
                </a:r>
                <a:br/>
              </a:p>
              <a:p>
                <a:pPr lvl="0" indent="0" marL="0">
                  <a:buNone/>
                </a:pPr>
                <a:r>
                  <a:rPr b="1"/>
                  <a:t>Analisis ROI &amp; Tindak Lanjut</a:t>
                </a:r>
                <a:br/>
                <a:r>
                  <a:rPr/>
                  <a:t>KPI, Studi Kasus GI 150kV, Workshop Business Case, &amp; Refleksi.</a:t>
                </a:r>
              </a:p>
              <a:p>
                <a:pPr lvl="0" indent="0" marL="0">
                  <a:buNone/>
                </a:pPr>
                <a:r>
                  <a:rPr i="1"/>
                  <a:t>Total durasi fasilitasi: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±</m:t>
                    </m:r>
                  </m:oMath>
                </a14:m>
                <a:r>
                  <a:rPr i="1"/>
                  <a:t>45 menit (30 menit materi + 15 menit workshop praktik)</a:t>
                </a:r>
              </a:p>
              <a:p>
                <a:pPr lvl="0" indent="0" marL="0">
                  <a:buNone/>
                </a:pPr>
                <a:r>
                  <a:rPr/>
                  <a:t>Glosarium Ringkas: Istilah Kunci dalam Modul Ini</a:t>
                </a:r>
              </a:p>
            </p:txBody>
          </p:sp>
        </mc:Choice>
      </mc:AlternateContent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Fondasi &amp; Diagnosa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Visi Masa Depan: Ekosistem Kearsipan Digital PLN</a:t>
            </a:r>
          </a:p>
          <a:p>
            <a:pPr lvl="0" indent="0" marL="0">
              <a:buNone/>
            </a:pPr>
            <a:r>
              <a:rPr i="1"/>
              <a:t>“Archiving is no longer a post-action task, but an embedded engine of business reliability.”</a:t>
            </a:r>
          </a:p>
          <a:p>
            <a:pPr lvl="0"/>
            <a:r>
              <a:rPr b="1"/>
              <a:t>Embedded:</a:t>
            </a:r>
            <a:r>
              <a:rPr/>
              <a:t> Menyatu dalam transaksi operasional.</a:t>
            </a:r>
          </a:p>
          <a:p>
            <a:pPr lvl="0"/>
            <a:r>
              <a:rPr b="1"/>
              <a:t>Autonomous:</a:t>
            </a:r>
            <a:r>
              <a:rPr/>
              <a:t> Tarik data (</a:t>
            </a:r>
            <a:r>
              <a:rPr i="1"/>
              <a:t>auto-capture</a:t>
            </a:r>
            <a:r>
              <a:rPr/>
              <a:t>) tanpa manual.</a:t>
            </a:r>
          </a:p>
          <a:p>
            <a:pPr lvl="0"/>
            <a:r>
              <a:rPr b="1"/>
              <a:t>Authentic:</a:t>
            </a:r>
            <a:r>
              <a:rPr/>
              <a:t> Menjamin bukti legal yang tak terbantahkan.</a:t>
            </a:r>
          </a:p>
          <a:p>
            <a:pPr lvl="0" indent="0" marL="0">
              <a:buNone/>
            </a:pPr>
            <a:r>
              <a:rPr/>
              <a:t>Diagnosa</a:t>
            </a:r>
          </a:p>
          <a:p>
            <a:pPr lvl="0" indent="0" marL="0">
              <a:buNone/>
            </a:pPr>
            <a:r>
              <a:rPr/>
              <a:t>Desain</a:t>
            </a:r>
          </a:p>
          <a:p>
            <a:pPr lvl="0" indent="0" marL="0">
              <a:buNone/>
            </a:pPr>
            <a:r>
              <a:rPr/>
              <a:t>Deliver</a:t>
            </a:r>
          </a:p>
          <a:p>
            <a:pPr lvl="0" indent="0" marL="0">
              <a:buNone/>
            </a:pPr>
            <a:r>
              <a:rPr/>
              <a:t>Bukan sekadar “koneksi API” antar server.</a:t>
            </a:r>
            <a:br/>
            <a:r>
              <a:rPr/>
              <a:t>Arsip harus bergerak utuh bersama:</a:t>
            </a:r>
            <a:br/>
            <a:r>
              <a:rPr b="1"/>
              <a:t>Content</a:t>
            </a:r>
            <a:r>
              <a:rPr/>
              <a:t> (isi) + </a:t>
            </a:r>
            <a:r>
              <a:rPr b="1"/>
              <a:t>Structure</a:t>
            </a:r>
            <a:r>
              <a:rPr/>
              <a:t> (format) + </a:t>
            </a:r>
            <a:r>
              <a:rPr b="1"/>
              <a:t>Context</a:t>
            </a:r>
            <a:r>
              <a:rPr/>
              <a:t> (metadata pencipta &amp; kronologi).</a:t>
            </a:r>
            <a:br/>
            <a:r>
              <a:rPr i="1"/>
              <a:t>File</a:t>
            </a:r>
            <a:r>
              <a:rPr/>
              <a:t> tanpa konteks metadata = cacat hukum.</a:t>
            </a:r>
          </a:p>
          <a:p>
            <a:pPr lvl="0" indent="0" marL="0">
              <a:buNone/>
            </a:pPr>
            <a:r>
              <a:rPr/>
              <a:t>Biaya Tersembunyi dari Prosedur Manual (As-Is)</a:t>
            </a:r>
          </a:p>
          <a:p>
            <a:pPr lvl="0" indent="0" marL="0">
              <a:buNone/>
            </a:pPr>
            <a:r>
              <a:rPr b="1"/>
              <a:t>Waktu Tunggu</a:t>
            </a:r>
          </a:p>
          <a:p>
            <a:pPr lvl="0" indent="0" marL="1270000">
              <a:buNone/>
            </a:pPr>
            <a:r>
              <a:rPr sz="2000"/>
              <a:t>3–5 Hari Kerja.</a:t>
            </a:r>
          </a:p>
          <a:p>
            <a:pPr lvl="0" indent="0" marL="0">
              <a:buNone/>
            </a:pPr>
            <a:r>
              <a:rPr b="1"/>
              <a:t>Human Error</a:t>
            </a:r>
          </a:p>
          <a:p>
            <a:pPr lvl="0" indent="0" marL="1270000">
              <a:buNone/>
            </a:pPr>
            <a:r>
              <a:rPr sz="2000"/>
              <a:t>35% Metadata Salah Input.</a:t>
            </a:r>
          </a:p>
          <a:p>
            <a:pPr lvl="0" indent="0" marL="0">
              <a:buNone/>
            </a:pPr>
            <a:r>
              <a:rPr b="1"/>
              <a:t>Risiko Audit</a:t>
            </a:r>
          </a:p>
          <a:p>
            <a:pPr lvl="0" indent="0" marL="1270000">
              <a:buNone/>
            </a:pPr>
            <a:r>
              <a:rPr sz="2000"/>
              <a:t>Dokumen tercecer/sulit dicari.</a:t>
            </a:r>
          </a:p>
          <a:p>
            <a:pPr lvl="0" indent="0" marL="0">
              <a:buNone/>
            </a:pPr>
            <a:r>
              <a:rPr b="1"/>
              <a:t>Biaya Fisik</a:t>
            </a:r>
          </a:p>
          <a:p>
            <a:pPr lvl="0" indent="0" marL="1270000">
              <a:buNone/>
            </a:pPr>
            <a:r>
              <a:rPr sz="2000"/>
              <a:t>Kertas, Kurir, &amp; Ruang Simpan.</a:t>
            </a:r>
          </a:p>
          <a:p>
            <a:pPr lvl="0" indent="0" marL="0">
              <a:buNone/>
            </a:pPr>
            <a:r>
              <a:rPr b="1"/>
              <a:t>Ilustrasi Kerugian (Model Simulasi)</a:t>
            </a:r>
          </a:p>
          <a:p>
            <a:pPr lvl="0" indent="0" marL="0">
              <a:buNone/>
            </a:pPr>
            <a:r>
              <a:rPr/>
              <a:t>Mengapa Proses Kita Terasa Lambat?</a:t>
            </a:r>
          </a:p>
          <a:p>
            <a:pPr lvl="0" indent="0" marL="0">
              <a:buNone/>
            </a:pPr>
            <a:r>
              <a:rPr/>
              <a:t>Masalah utama pada </a:t>
            </a:r>
            <a:r>
              <a:rPr b="1"/>
              <a:t>Gap Prosedur</a:t>
            </a:r>
            <a:r>
              <a:rPr/>
              <a:t> yang mewajibkan konversi digital-analog-digital secara berulang.</a:t>
            </a:r>
          </a:p>
          <a:p>
            <a:pPr lvl="0" indent="0" marL="0">
              <a:buNone/>
            </a:pPr>
            <a:r>
              <a:rPr/>
              <a:t>Landasan Teori: Records Continuum Model (ISO 15489)</a:t>
            </a:r>
          </a:p>
          <a:p>
            <a:pPr lvl="0" indent="0" marL="0">
              <a:buNone/>
            </a:pPr>
            <a:r>
              <a:rPr/>
              <a:t>image</a:t>
            </a:r>
          </a:p>
          <a:p>
            <a:pPr lvl="0" indent="0" marL="0">
              <a:buNone/>
            </a:pPr>
            <a:r>
              <a:rPr b="1"/>
              <a:t>Beyond Life Cycle:</a:t>
            </a:r>
            <a:r>
              <a:rPr/>
              <a:t> Berbeda dengan teori klasik, Continuum Model menegaskan bahwa arsip digital adalah satu kesatuan sejak diciptakan hingga memori korporat.</a:t>
            </a:r>
          </a:p>
          <a:p>
            <a:pPr lvl="0"/>
            <a:r>
              <a:rPr b="1"/>
              <a:t>Create:</a:t>
            </a:r>
            <a:r>
              <a:rPr/>
              <a:t> Transaksi awal (BAST/SPK).</a:t>
            </a:r>
          </a:p>
          <a:p>
            <a:pPr lvl="0"/>
            <a:r>
              <a:rPr b="1"/>
              <a:t>Capture:</a:t>
            </a:r>
            <a:r>
              <a:rPr/>
              <a:t> Validasi dalam sistem.</a:t>
            </a:r>
          </a:p>
          <a:p>
            <a:pPr lvl="0"/>
            <a:r>
              <a:rPr b="1"/>
              <a:t>Organize:</a:t>
            </a:r>
            <a:r>
              <a:rPr/>
              <a:t> Klasifikasi &amp; Metadata.</a:t>
            </a:r>
          </a:p>
          <a:p>
            <a:pPr lvl="0"/>
            <a:r>
              <a:rPr b="1"/>
              <a:t>Pluralize:</a:t>
            </a:r>
            <a:r>
              <a:rPr/>
              <a:t> Memori Kolektif &amp; Audit.</a:t>
            </a:r>
          </a:p>
          <a:p>
            <a:pPr lvl="0" indent="0" marL="0">
              <a:buNone/>
            </a:pPr>
            <a:r>
              <a:rPr/>
              <a:t>Model ini menjamin bahwa setiap data yang divalidasi di awal (</a:t>
            </a:r>
            <a:r>
              <a:rPr i="1"/>
              <a:t>D-1</a:t>
            </a:r>
            <a:r>
              <a:rPr/>
              <a:t>) akan tetap sah secara hukum hingga puluhan tahun mendatang (</a:t>
            </a:r>
            <a:r>
              <a:rPr i="1"/>
              <a:t>D-4</a:t>
            </a:r>
            <a:r>
              <a:rPr/>
              <a:t>).</a:t>
            </a:r>
          </a:p>
          <a:p>
            <a:pPr lvl="0" indent="0" marL="0">
              <a:buNone/>
            </a:pPr>
            <a:r>
              <a:rPr/>
              <a:t>Metodologi: Kerangka Evaluasi 7 Domain Terintegrasi</a:t>
            </a:r>
          </a:p>
          <a:p>
            <a:pPr lvl="0" indent="0" marL="0">
              <a:buNone/>
            </a:pPr>
            <a:r>
              <a:rPr/>
              <a:t>Kerangka diagnostik yang menggabungkan standar </a:t>
            </a:r>
            <a:r>
              <a:rPr b="1"/>
              <a:t>ISO, NIST, PARBICA</a:t>
            </a:r>
            <a:r>
              <a:rPr/>
              <a:t>, serta regulasi nasional (</a:t>
            </a:r>
            <a:r>
              <a:rPr b="1"/>
              <a:t>PP 71/2019 &amp; ANRI</a:t>
            </a:r>
            <a:r>
              <a:rPr/>
              <a:t>).</a:t>
            </a:r>
          </a:p>
          <a:p>
            <a:pPr lvl="0"/>
            <a:r>
              <a:rPr/>
              <a:t>Fokus pada Kesiapan (</a:t>
            </a:r>
            <a:r>
              <a:rPr i="1"/>
              <a:t>Readiness</a:t>
            </a:r>
            <a:r>
              <a:rPr/>
              <a:t>).</a:t>
            </a:r>
          </a:p>
          <a:p>
            <a:pPr lvl="0"/>
            <a:r>
              <a:rPr/>
              <a:t>Diagnosa 7 Domain Strategis.</a:t>
            </a:r>
          </a:p>
          <a:p>
            <a:pPr lvl="0" indent="0" marL="0">
              <a:buNone/>
            </a:pPr>
            <a:r>
              <a:rPr b="1"/>
              <a:t>7 Domain Evaluasi (Skala 1–5)</a:t>
            </a:r>
          </a:p>
          <a:p>
            <a:pPr lvl="0" indent="-342900" marL="342900">
              <a:buAutoNum type="arabicPeriod"/>
            </a:pPr>
            <a:r>
              <a:rPr b="1"/>
              <a:t>Kebijakan:</a:t>
            </a:r>
            <a:r>
              <a:rPr/>
              <a:t> Dasar hukum di titik transaksi.</a:t>
            </a:r>
          </a:p>
          <a:p>
            <a:pPr lvl="0" indent="-342900" marL="342900">
              <a:buAutoNum type="arabicPeriod"/>
            </a:pPr>
            <a:r>
              <a:rPr b="1"/>
              <a:t>Tata Kelola:</a:t>
            </a:r>
            <a:r>
              <a:rPr/>
              <a:t> Otoritas &amp; RACI Chart.</a:t>
            </a:r>
          </a:p>
          <a:p>
            <a:pPr lvl="0" indent="-342900" marL="342900">
              <a:buAutoNum type="arabicPeriod"/>
            </a:pPr>
            <a:r>
              <a:rPr b="1"/>
              <a:t>SDM:</a:t>
            </a:r>
            <a:r>
              <a:rPr/>
              <a:t> Kapasitas &amp; Budaya kerja.</a:t>
            </a:r>
          </a:p>
          <a:p>
            <a:pPr lvl="0" indent="-342900" marL="342900">
              <a:buAutoNum type="arabicPeriod"/>
            </a:pPr>
            <a:r>
              <a:rPr b="1"/>
              <a:t>Interoperabilitas:</a:t>
            </a:r>
            <a:r>
              <a:rPr/>
              <a:t> Komunikasi antar sistem.</a:t>
            </a:r>
          </a:p>
          <a:p>
            <a:pPr lvl="0" indent="-342900" marL="342900">
              <a:buAutoNum type="arabicPeriod"/>
            </a:pPr>
            <a:r>
              <a:rPr b="1"/>
              <a:t>Proses Bisnis:</a:t>
            </a:r>
            <a:r>
              <a:rPr/>
              <a:t> Alur tanpa hambatan.</a:t>
            </a:r>
          </a:p>
          <a:p>
            <a:pPr lvl="0" indent="-342900" marL="342900">
              <a:buAutoNum type="arabicPeriod"/>
            </a:pPr>
            <a:r>
              <a:rPr b="1"/>
              <a:t>Keamanan:</a:t>
            </a:r>
            <a:r>
              <a:rPr/>
              <a:t> Integritas data.</a:t>
            </a:r>
          </a:p>
          <a:p>
            <a:pPr lvl="0" indent="-342900" marL="342900">
              <a:buAutoNum type="arabicPeriod"/>
            </a:pPr>
            <a:r>
              <a:rPr b="1"/>
              <a:t>Preservasi:</a:t>
            </a:r>
            <a:r>
              <a:rPr/>
              <a:t> Kelangsungan jangka panjang.</a:t>
            </a:r>
          </a:p>
          <a:p>
            <a:pPr lvl="0" indent="0" marL="0">
              <a:buNone/>
            </a:pPr>
            <a:r>
              <a:rPr/>
              <a:t>Refleksi Cepat: Diagnosa Awal Unit Anda</a:t>
            </a:r>
          </a:p>
          <a:p>
            <a:pPr lvl="0" indent="0" marL="0">
              <a:buNone/>
            </a:pPr>
            <a:r>
              <a:rPr i="1"/>
              <a:t>“Dari 7 domain evaluasi terintegrasi, di domain mana unit kerja Anda merasa </a:t>
            </a:r>
            <a:r>
              <a:rPr b="1" i="1"/>
              <a:t>paling lemah</a:t>
            </a:r>
            <a:r>
              <a:rPr i="1"/>
              <a:t>?”</a:t>
            </a:r>
          </a:p>
          <a:p>
            <a:pPr lvl="0"/>
            <a:r>
              <a:rPr b="1"/>
              <a:t>1. Kebijakan</a:t>
            </a:r>
            <a:r>
              <a:rPr/>
              <a:t> — Aturan belum sampai ke titik transaksi</a:t>
            </a:r>
          </a:p>
          <a:p>
            <a:pPr lvl="0"/>
            <a:r>
              <a:rPr b="1"/>
              <a:t>2. Tata Kelola</a:t>
            </a:r>
            <a:r>
              <a:rPr/>
              <a:t> — Tanggung jawab tidak jelas</a:t>
            </a:r>
          </a:p>
          <a:p>
            <a:pPr lvl="0"/>
            <a:r>
              <a:rPr b="1"/>
              <a:t>3. SDM</a:t>
            </a:r>
            <a:r>
              <a:rPr/>
              <a:t> — Kompetensi digital rendah</a:t>
            </a:r>
          </a:p>
          <a:p>
            <a:pPr lvl="0"/>
            <a:r>
              <a:rPr b="1"/>
              <a:t>4. Interoperabilitas</a:t>
            </a:r>
            <a:r>
              <a:rPr/>
              <a:t> — Sistem tidak saling bicara</a:t>
            </a:r>
          </a:p>
          <a:p>
            <a:pPr lvl="0"/>
            <a:r>
              <a:rPr b="1"/>
              <a:t>5. Proses Bisnis</a:t>
            </a:r>
            <a:r>
              <a:rPr/>
              <a:t> — Masih banyak proses manual</a:t>
            </a:r>
          </a:p>
          <a:p>
            <a:pPr lvl="0"/>
            <a:r>
              <a:rPr b="1"/>
              <a:t>6. Keamanan</a:t>
            </a:r>
            <a:r>
              <a:rPr/>
              <a:t> — Integritas data belum terjamin</a:t>
            </a:r>
          </a:p>
          <a:p>
            <a:pPr lvl="0"/>
            <a:r>
              <a:rPr b="1"/>
              <a:t>7. Preservasi</a:t>
            </a:r>
            <a:r>
              <a:rPr/>
              <a:t> — Arsip lama terancam rusak/hilang</a:t>
            </a:r>
          </a:p>
          <a:p>
            <a:pPr lvl="0" indent="0" marL="0">
              <a:buNone/>
            </a:pPr>
            <a:r>
              <a:rPr/>
              <a:t>Landasan Tata Kelola Hukum &amp; Internasional: ISO 15489</a:t>
            </a:r>
          </a:p>
          <a:p>
            <a:pPr lvl="0" indent="0" marL="0">
              <a:buNone/>
            </a:pPr>
            <a:r>
              <a:rPr i="1"/>
              <a:t>“Information is a formalized asset that requires executive accountability.”</a:t>
            </a:r>
            <a:r>
              <a:rPr/>
              <a:t> (ARMA International)</a:t>
            </a:r>
          </a:p>
          <a:p>
            <a:pPr lvl="0"/>
            <a:r>
              <a:rPr/>
              <a:t>Memastikan data tidak hanya sekadar “Tersimpan”, tapi juga terjamin </a:t>
            </a:r>
            <a:r>
              <a:rPr b="1"/>
              <a:t>Keabsahan</a:t>
            </a:r>
            <a:r>
              <a:rPr/>
              <a:t>, </a:t>
            </a:r>
            <a:r>
              <a:rPr b="1"/>
              <a:t>Perlindungan Hak Akses</a:t>
            </a:r>
            <a:r>
              <a:rPr/>
              <a:t>, dan </a:t>
            </a:r>
            <a:r>
              <a:rPr b="1"/>
              <a:t>Nilai Guna Audit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Authenticity:</a:t>
            </a:r>
            <a:r>
              <a:rPr/>
              <a:t> Keaslian pencipta terbukti.</a:t>
            </a:r>
          </a:p>
          <a:p>
            <a:pPr lvl="0" indent="-342900" marL="342900">
              <a:buAutoNum type="arabicPeriod"/>
            </a:pPr>
            <a:r>
              <a:rPr b="1"/>
              <a:t>Reliability:</a:t>
            </a:r>
            <a:r>
              <a:rPr/>
              <a:t> Akurat merepresentasikan transaksi.</a:t>
            </a:r>
          </a:p>
          <a:p>
            <a:pPr lvl="0" indent="-342900" marL="342900">
              <a:buAutoNum type="arabicPeriod"/>
            </a:pPr>
            <a:r>
              <a:rPr b="1"/>
              <a:t>Integrity:</a:t>
            </a:r>
            <a:r>
              <a:rPr/>
              <a:t> Bebas alterasi (</a:t>
            </a:r>
            <a:r>
              <a:rPr i="1"/>
              <a:t>Hash-lock</a:t>
            </a:r>
            <a:r>
              <a:rPr/>
              <a:t>).</a:t>
            </a:r>
          </a:p>
          <a:p>
            <a:pPr lvl="0" indent="-342900" marL="342900">
              <a:buAutoNum type="arabicPeriod"/>
            </a:pPr>
            <a:r>
              <a:rPr b="1"/>
              <a:t>Usability:</a:t>
            </a:r>
            <a:r>
              <a:rPr/>
              <a:t> Terstruktur &amp; mudah ditemukan.</a:t>
            </a:r>
          </a:p>
          <a:p>
            <a:pPr lvl="0" indent="0" marL="0">
              <a:buNone/>
            </a:pPr>
            <a:r>
              <a:rPr/>
              <a:t>3 Pilar Strategis Optimalisasi Prosedur</a:t>
            </a:r>
          </a:p>
          <a:p>
            <a:pPr lvl="0" indent="0" marL="0">
              <a:buNone/>
            </a:pPr>
            <a:br/>
            <a:r>
              <a:rPr b="1"/>
              <a:t>Value-Added Focus</a:t>
            </a:r>
            <a:br/>
            <a:r>
              <a:rPr/>
              <a:t>Mengeliminasi aktivitas non-produktif.</a:t>
            </a:r>
          </a:p>
          <a:p>
            <a:pPr lvl="0" indent="0" marL="0">
              <a:buNone/>
            </a:pPr>
            <a:br/>
            <a:r>
              <a:rPr b="1"/>
              <a:t>Single Source of Truth</a:t>
            </a:r>
            <a:br/>
            <a:r>
              <a:rPr/>
              <a:t>Satu input, mengalir otomatis ke seluruh sistem.</a:t>
            </a:r>
          </a:p>
          <a:p>
            <a:pPr lvl="0" indent="0" marL="0">
              <a:buNone/>
            </a:pPr>
            <a:br/>
            <a:r>
              <a:rPr b="1"/>
              <a:t>Rule-Based Routing</a:t>
            </a:r>
            <a:br/>
            <a:r>
              <a:rPr/>
              <a:t>Persetujuan otomatis berdasarkan kategori risiko.</a:t>
            </a:r>
          </a:p>
          <a:p>
            <a:pPr lvl="0" indent="0" marL="0">
              <a:buNone/>
            </a:pPr>
            <a:r>
              <a:rPr/>
              <a:t>Proses Diagnosa: Mencari Fakta Lapangan</a:t>
            </a:r>
          </a:p>
          <a:p>
            <a:pPr lvl="0"/>
            <a:r>
              <a:rPr/>
              <a:t>Apakah ada pengetikan ulang data di aplikasi berbeda?</a:t>
            </a:r>
          </a:p>
          <a:p>
            <a:pPr lvl="0"/>
            <a:r>
              <a:rPr/>
              <a:t>Berapa lama dokumen “menunggu” untuk divalidasi?</a:t>
            </a:r>
          </a:p>
          <a:p>
            <a:pPr lvl="0"/>
            <a:r>
              <a:rPr/>
              <a:t>Apakah setiap modifikasi arsip terekam dalam </a:t>
            </a:r>
            <a:r>
              <a:rPr i="1"/>
              <a:t>Audit Trail</a:t>
            </a:r>
            <a:r>
              <a:rPr/>
              <a:t>?</a:t>
            </a:r>
          </a:p>
          <a:p>
            <a:pPr lvl="0" indent="0" marL="0">
              <a:buNone/>
            </a:pPr>
            <a:r>
              <a:rPr/>
              <a:t>Model BPMN Kondisi Saat Ini (As-Is)</a:t>
            </a:r>
          </a:p>
          <a:p>
            <a:pPr lvl="0" indent="0" marL="0">
              <a:buNone/>
            </a:pPr>
            <a:r>
              <a:rPr/>
              <a:t>MA tidak perlu menggambar diagram dari nol. Namun MA </a:t>
            </a:r>
            <a:r>
              <a:rPr b="1"/>
              <a:t>wajib mampu membaca dan mengesahkannya</a:t>
            </a:r>
            <a:r>
              <a:rPr/>
              <a:t> — BPMN adalah “Cetak Biru Hukum” yang menentukan siapa bertanggung jawab apa di setiap titik proses.</a:t>
            </a:r>
          </a:p>
          <a:p>
            <a:pPr lvl="0" indent="0" marL="0">
              <a:buNone/>
            </a:pPr>
            <a:r>
              <a:rPr/>
              <a:t>Output Wajib: Matriks Identifikasi Area Optimasi</a:t>
            </a:r>
          </a:p>
          <a:p>
            <a:pPr lvl="0" indent="0" marL="0">
              <a:buNone/>
            </a:pPr>
            <a:r>
              <a:rPr/>
              <a:t>Hasil diagnosa dari teknik </a:t>
            </a:r>
            <a:r>
              <a:rPr i="1"/>
              <a:t>Fact-Finding</a:t>
            </a:r>
            <a:r>
              <a:rPr/>
              <a:t> harus dipetakan ke dalam matriks berikut </a:t>
            </a:r>
            <a:r>
              <a:rPr b="1"/>
              <a:t>sebelum</a:t>
            </a:r>
            <a:r>
              <a:rPr/>
              <a:t> merancang alur To-Be. Ini adalah input wajib untuk Workshop 1.</a:t>
            </a:r>
          </a:p>
          <a:p>
            <a:pPr lvl="0" indent="0" marL="0">
              <a:buNone/>
            </a:pPr>
            <a:r>
              <a:rPr b="1"/>
              <a:t>Prioritas</a:t>
            </a:r>
            <a:r>
              <a:rPr/>
              <a:t> dinilai berdasarkan Tingkat Urgensi vs Effort Implementasi. Fokus pada area </a:t>
            </a:r>
            <a:r>
              <a:rPr b="1"/>
              <a:t>Tinggi</a:t>
            </a:r>
            <a:r>
              <a:rPr/>
              <a:t> untuk desain alur kerja di sesi berikutnya. Isi minimal </a:t>
            </a:r>
            <a:r>
              <a:rPr b="1"/>
              <a:t>4 baris</a:t>
            </a:r>
            <a:r>
              <a:rPr/>
              <a:t> dari proses riil unit kerja Anda.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Desain &amp; Implementasi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Prinsip Desain Workflow Terintegrasi</a:t>
                </a:r>
              </a:p>
              <a:p>
                <a:pPr lvl="0" indent="0" marL="0">
                  <a:buNone/>
                </a:pPr>
                <a:r>
                  <a:rPr b="1"/>
                  <a:t>Mengapa MA perlu mengawal desain ini?</a:t>
                </a:r>
                <a:br/>
                <a:r>
                  <a:rPr/>
                  <a:t>Otomasi adalah </a:t>
                </a:r>
                <a:r>
                  <a:rPr b="1"/>
                  <a:t>instrumen pengamanan aset</a:t>
                </a:r>
                <a:r>
                  <a:rPr/>
                  <a:t> dan mitigasi risiko hukum. MA yang mengamanatkan desain otomasi secara riil memusnahkan celah intervensi (</a:t>
                </a:r>
                <a:r>
                  <a:rPr i="1"/>
                  <a:t>tampering/fraud</a:t>
                </a:r>
                <a:r>
                  <a:rPr/>
                  <a:t>) data dan mengunci kepatuhan GCG secara </a:t>
                </a:r>
                <a:r>
                  <a:rPr i="1"/>
                  <a:t>real-time</a:t>
                </a:r>
                <a:r>
                  <a:rPr/>
                  <a:t>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Single Entry, Multiple Use:</a:t>
                </a:r>
                <a:br/>
                <a:r>
                  <a:rPr/>
                  <a:t>Eliminasi input ulang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nol </a:t>
                </a:r>
                <a:r>
                  <a:rPr i="1"/>
                  <a:t>human-error</a:t>
                </a:r>
                <a:r>
                  <a:rPr/>
                  <a:t>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Rule-Based Routing:</a:t>
                </a:r>
                <a:br/>
                <a:r>
                  <a:rPr/>
                  <a:t>Rute validasi dieksekusi terprogram oleh sistem, tanpa intervensi informal.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Explicit Exception Handling:</a:t>
                </a:r>
                <a:br/>
                <a:r>
                  <a:rPr/>
                  <a:t>Prosedur cadangan (</a:t>
                </a:r>
                <a:r>
                  <a:rPr i="1"/>
                  <a:t>fallback</a:t>
                </a:r>
                <a:r>
                  <a:rPr/>
                  <a:t>) saat jaringan terputus.</a:t>
                </a:r>
              </a:p>
              <a:p>
                <a:pPr lvl="0" indent="0" marL="0">
                  <a:buNone/>
                </a:pPr>
                <a:r>
                  <a:rPr/>
                  <a:t>Model BPMN Kondisi Target (To-Be)</a:t>
                </a:r>
              </a:p>
              <a:p>
                <a:pPr lvl="0" indent="0" marL="0">
                  <a:buNone/>
                </a:pPr>
                <a:r>
                  <a:rPr/>
                  <a:t>3 Pola Integrasi: Elemen Kunci Otomasi</a:t>
                </a:r>
              </a:p>
              <a:p>
                <a:pPr lvl="0" indent="0" marL="0">
                  <a:buNone/>
                </a:pPr>
                <a:br/>
                <a:r>
                  <a:rPr b="1"/>
                  <a:t>Trigger-Based</a:t>
                </a:r>
                <a:br/>
                <a:r>
                  <a:rPr b="1"/>
                  <a:t>Auto-Capture</a:t>
                </a:r>
                <a:br/>
                <a:r>
                  <a:rPr/>
                  <a:t>Begitu status di ERP menjadi </a:t>
                </a:r>
                <a:r>
                  <a:rPr>
                    <a:latin typeface="Courier"/>
                  </a:rPr>
                  <a:t>TECO</a:t>
                </a:r>
                <a:r>
                  <a:rPr/>
                  <a:t>, arsip langsung tercipta otomatis tanpa intervensi manual.</a:t>
                </a:r>
              </a:p>
              <a:p>
                <a:pPr lvl="0" indent="0" marL="0">
                  <a:buNone/>
                </a:pPr>
                <a:br/>
                <a:r>
                  <a:rPr b="1"/>
                  <a:t>Parallel Digital</a:t>
                </a:r>
                <a:br/>
                <a:r>
                  <a:rPr b="1"/>
                  <a:t>Routing</a:t>
                </a:r>
                <a:br/>
                <a:r>
                  <a:rPr/>
                  <a:t>Persetujuan dikirim serentak secara paralel. Tidak menunggu distribusi dokumen berantai secara fisik.</a:t>
                </a:r>
              </a:p>
              <a:p>
                <a:pPr lvl="0" indent="0" marL="0">
                  <a:buNone/>
                </a:pPr>
                <a:br/>
                <a:r>
                  <a:rPr b="1"/>
                  <a:t>SLA-Driven</a:t>
                </a:r>
                <a:br/>
                <a:r>
                  <a:rPr b="1"/>
                  <a:t>Escalation</a:t>
                </a:r>
                <a:br/>
                <a:r>
                  <a:rPr/>
                  <a:t>Jika manajer abai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&gt;</m:t>
                    </m:r>
                    <m:r>
                      <m:t>16</m:t>
                    </m:r>
                  </m:oMath>
                </a14:m>
                <a:r>
                  <a:rPr/>
                  <a:t> jam, sistem otomatis mengeskalasi ke atasan langsung sesuai aturan SLA.</a:t>
                </a:r>
              </a:p>
              <a:p>
                <a:pPr lvl="0" indent="0" marL="0">
                  <a:buNone/>
                </a:pPr>
                <a:r>
                  <a:rPr/>
                  <a:t>Pada </a:t>
                </a:r>
                <a:r>
                  <a:rPr i="1"/>
                  <a:t>Parallel Routing</a:t>
                </a:r>
                <a:r>
                  <a:rPr/>
                  <a:t>, dokumen harus dikunci </a:t>
                </a:r>
                <a:r>
                  <a:rPr i="1"/>
                  <a:t>read-only</a:t>
                </a:r>
                <a:r>
                  <a:rPr/>
                  <a:t>. Revisi diajukan dalam bentuk metadata komentar yang dilacak secara terpusat, bukan mengubah konten dokumen asli.</a:t>
                </a:r>
              </a:p>
              <a:p>
                <a:pPr lvl="0" indent="0" marL="0">
                  <a:buNone/>
                </a:pPr>
                <a:r>
                  <a:rPr/>
                  <a:t>Studi Kasus Alternatif: Arsip BAST E-Procurement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Pemicu:</a:t>
                </a:r>
                <a:r>
                  <a:rPr/>
                  <a:t> Vendor menekan “Submit Pekerjaan” di portal E-Procurement.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Auto-Generate:</a:t>
                </a:r>
                <a:r>
                  <a:rPr/>
                  <a:t> Sistem menyusun draf BAST tanpa diketik manusia.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API Transfer:</a:t>
                </a:r>
                <a:r>
                  <a:rPr/>
                  <a:t> Draf dikirim ke Sistem E-Office (Tata Persuratan).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Review:</a:t>
                </a:r>
                <a:r>
                  <a:rPr/>
                  <a:t> Manajer Logistik membuka E-Office, memeriksa substansi draf.</a:t>
                </a:r>
              </a:p>
              <a:p>
                <a:pPr lvl="0" indent="-342900" marL="342900">
                  <a:buAutoNum startAt="5" type="arabicPeriod"/>
                </a:pPr>
                <a:r>
                  <a:rPr b="1"/>
                  <a:t>Gateway:</a:t>
                </a:r>
                <a:r>
                  <a:rPr/>
                  <a:t> Ditolak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kembali ke vendor. Disetujui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TTE.</a:t>
                </a:r>
              </a:p>
              <a:p>
                <a:pPr lvl="0" indent="-342900" marL="342900">
                  <a:buAutoNum startAt="5" type="arabicPeriod"/>
                </a:pPr>
                <a:r>
                  <a:rPr b="1"/>
                  <a:t>Hash-Lock:</a:t>
                </a:r>
                <a:r>
                  <a:rPr/>
                  <a:t> Sistem mengunci arsip BAST permanen (</a:t>
                </a:r>
                <a:r>
                  <a:rPr i="1"/>
                  <a:t>immutable</a:t>
                </a:r>
                <a:r>
                  <a:rPr/>
                  <a:t>).</a:t>
                </a:r>
              </a:p>
              <a:p>
                <a:pPr lvl="0" indent="-342900" marL="342900">
                  <a:buAutoNum startAt="5" type="arabicPeriod"/>
                </a:pPr>
                <a:r>
                  <a:rPr b="1"/>
                  <a:t>End:</a:t>
                </a:r>
                <a:r>
                  <a:rPr/>
                  <a:t> Transaksi BAST tervalidasi digital tanpa satu pun kertas dicetak.</a:t>
                </a:r>
              </a:p>
              <a:p>
                <a:pPr lvl="0" indent="0" marL="0">
                  <a:buNone/>
                </a:pPr>
                <a:r>
                  <a:rPr/>
                  <a:t>Integrasi antara E-Procurement dan E-Office mengeliminasi kebutuhan staf mengetik ulang data vendor ke form BAST manual. Seluruh metadata kontrak tertarik otomatis dari portal pengadaan.</a:t>
                </a:r>
              </a:p>
              <a:p>
                <a:pPr lvl="0" indent="0" marL="0">
                  <a:buNone/>
                </a:pPr>
                <a:r>
                  <a:rPr/>
                  <a:t>Validasi Alur: </a:t>
                </a:r>
                <a:r>
                  <a:rPr i="1"/>
                  <a:t>Executive Tollgate</a:t>
                </a:r>
              </a:p>
              <a:p>
                <a:pPr lvl="0" indent="0" marL="0">
                  <a:buNone/>
                </a:pPr>
                <a:r>
                  <a:rPr/>
                  <a:t>Sebelum rancangan BPMN disahkan, Manajemen Atas </a:t>
                </a:r>
                <a:r>
                  <a:rPr b="1"/>
                  <a:t>wajib</a:t>
                </a:r>
                <a:r>
                  <a:rPr/>
                  <a:t> memvalidasi rancangan dengan 4 parameter kritis:</a:t>
                </a:r>
              </a:p>
              <a:p>
                <a:pPr lvl="0" indent="0" marL="0">
                  <a:buNone/>
                </a:pPr>
                <a:r>
                  <a:rPr/>
                  <a:t>Workshop 1:</a:t>
                </a:r>
                <a:br/>
                <a:r>
                  <a:rPr/>
                  <a:t>Perancangan Alur Kerja Terintegrasi (20 Menit)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Gunakan Matriks Identifikasi Bab 2 sebagai </a:t>
                </a:r>
                <a:r>
                  <a:rPr i="1"/>
                  <a:t>input</a:t>
                </a:r>
                <a:r>
                  <a:rPr/>
                  <a:t>.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Pilih </a:t>
                </a:r>
                <a:r>
                  <a:rPr b="1"/>
                  <a:t>1 proses prioritas tinggi</a:t>
                </a:r>
                <a:r>
                  <a:rPr/>
                  <a:t> untuk dirancang ulang.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Gambar diagram </a:t>
                </a:r>
                <a:r>
                  <a:rPr b="1"/>
                  <a:t>BPMN To-Be</a:t>
                </a:r>
                <a:r>
                  <a:rPr/>
                  <a:t> pada lembar kerja yang disediakan.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Lakukan </a:t>
                </a:r>
                <a:r>
                  <a:rPr b="1"/>
                  <a:t>validasi silang</a:t>
                </a:r>
                <a:r>
                  <a:rPr/>
                  <a:t> dengan kelompok lain menggunakan </a:t>
                </a:r>
                <a:r>
                  <a:rPr i="1"/>
                  <a:t>Executive Tollgate</a:t>
                </a:r>
                <a:r>
                  <a:rPr/>
                  <a:t> (4 parameter).</a:t>
                </a:r>
              </a:p>
              <a:p>
                <a:pPr lvl="0" indent="0" marL="0">
                  <a:buNone/>
                </a:pPr>
                <a:r>
                  <a:rPr b="1"/>
                  <a:t>Desktop:</a:t>
                </a:r>
                <a:br/>
                <a:r>
                  <a:rPr/>
                  <a:t>Visio, Bizagi Modeler</a:t>
                </a:r>
                <a:br/>
                <a:r>
                  <a:rPr b="1"/>
                  <a:t>Web:</a:t>
                </a:r>
                <a:br/>
                <a:r>
                  <a:rPr/>
                  <a:t>Draw.io, Lucidchart, Miro</a:t>
                </a:r>
              </a:p>
              <a:p>
                <a:pPr lvl="0" indent="0" marL="0">
                  <a:buNone/>
                </a:pPr>
                <a:r>
                  <a:rPr i="1"/>
                  <a:t>Kriteria Penilaian: 4.3.2</a:t>
                </a:r>
              </a:p>
              <a:p>
                <a:pPr lvl="0" indent="0" marL="0">
                  <a:buNone/>
                </a:pPr>
                <a:r>
                  <a:rPr/>
                  <a:t>Evolusi Paradigma SOP</a:t>
                </a:r>
              </a:p>
              <a:p>
                <a:pPr lvl="0" indent="0" marL="0">
                  <a:buNone/>
                </a:pPr>
                <a:r>
                  <a:rPr/>
                  <a:t>Struktur SOP Digital Terintegrasi: 8 Komponen Wajib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Tujuan &amp; Lingkup Interoperabilitas:</a:t>
                </a:r>
                <a:br/>
                <a:r>
                  <a:rPr/>
                  <a:t>Batasan penarikan data antar-sistem.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Dasar Hukum:</a:t>
                </a:r>
                <a:br/>
                <a:r>
                  <a:rPr/>
                  <a:t>UU ITE, PP 71/2019, Perka ANRI.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Definisi Digital:</a:t>
                </a:r>
                <a:br/>
                <a:r>
                  <a:rPr/>
                  <a:t>Token, Hash, RBAC, Metadata.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Peran + System Custodian:</a:t>
                </a:r>
                <a:br/>
                <a:r>
                  <a:rPr/>
                  <a:t>Mengakui </a:t>
                </a:r>
                <a:r>
                  <a:rPr b="1"/>
                  <a:t>Sistem</a:t>
                </a:r>
                <a:r>
                  <a:rPr/>
                  <a:t> sebagai entitas pengawasan.</a:t>
                </a:r>
              </a:p>
              <a:p>
                <a:pPr lvl="0" indent="-342900" marL="342900">
                  <a:buAutoNum startAt="5" type="arabicPeriod"/>
                </a:pPr>
                <a:r>
                  <a:rPr b="1"/>
                  <a:t>Klasifikasi, Retensi &amp; Akses:</a:t>
                </a:r>
                <a:br/>
                <a:r>
                  <a:rPr/>
                  <a:t>Matriks kodifikasi wajib &amp; RBAC.</a:t>
                </a:r>
              </a:p>
              <a:p>
                <a:pPr lvl="0" indent="-342900" marL="342900">
                  <a:buAutoNum startAt="5" type="arabicPeriod"/>
                </a:pPr>
                <a:r>
                  <a:rPr b="1"/>
                  <a:t>Alur Kerja + Trigger Points:</a:t>
                </a:r>
                <a:br/>
                <a:r>
                  <a:rPr/>
                  <a:t>Desain pemicu sistem &amp; rute paralel.</a:t>
                </a:r>
              </a:p>
              <a:p>
                <a:pPr lvl="0" indent="-342900" marL="342900">
                  <a:buAutoNum startAt="5" type="arabicPeriod"/>
                </a:pPr>
                <a:r>
                  <a:rPr b="1"/>
                  <a:t>Exception &amp; Fallback:</a:t>
                </a:r>
                <a:br/>
                <a:r>
                  <a:rPr/>
                  <a:t>Protokol pemulihan saat </a:t>
                </a:r>
                <a:r>
                  <a:rPr i="1"/>
                  <a:t>downtime</a:t>
                </a:r>
                <a:r>
                  <a:rPr/>
                  <a:t>.</a:t>
                </a:r>
              </a:p>
              <a:p>
                <a:pPr lvl="0" indent="-342900" marL="342900">
                  <a:buAutoNum startAt="5" type="arabicPeriod"/>
                </a:pPr>
                <a:r>
                  <a:rPr b="1"/>
                  <a:t>Lampiran Teknis:</a:t>
                </a:r>
                <a:br/>
                <a:r>
                  <a:rPr/>
                  <a:t>Peta database, log audit trail, matriks metadata.</a:t>
                </a:r>
              </a:p>
              <a:p>
                <a:pPr lvl="0" indent="0" marL="0">
                  <a:buNone/>
                </a:pPr>
                <a:r>
                  <a:rPr/>
                  <a:t>Format SOP (Tujuan, Referensi, Definisi, Uraian Langkah) tetap identik dengan pedoman korporat. Yang berubah adalah </a:t>
                </a:r>
                <a:r>
                  <a:rPr b="1"/>
                  <a:t>kualitas isi tiap bab</a:t>
                </a:r>
                <a:r>
                  <a:rPr/>
                  <a:t>, dari kendali manual ke kendali sistem komputasi terpusat.</a:t>
                </a:r>
              </a:p>
              <a:p>
                <a:pPr lvl="0" indent="0" marL="0">
                  <a:buNone/>
                </a:pPr>
                <a:r>
                  <a:rPr/>
                  <a:t>14 Field Metadata: Kerangka Bukti Hukum</a:t>
                </a:r>
              </a:p>
              <a:p>
                <a:pPr lvl="0"/>
                <a:r>
                  <a:rPr>
                    <a:latin typeface="Courier"/>
                  </a:rPr>
                  <a:t>DOC_ID</a:t>
                </a:r>
                <a:r>
                  <a:rPr/>
                  <a:t>: ID Unik Dokumen.</a:t>
                </a:r>
              </a:p>
              <a:p>
                <a:pPr lvl="0"/>
                <a:r>
                  <a:rPr>
                    <a:latin typeface="Courier"/>
                  </a:rPr>
                  <a:t>TIMESTAMP</a:t>
                </a:r>
                <a:r>
                  <a:rPr/>
                  <a:t>: Waktu mutlak (ISO 8601).</a:t>
                </a:r>
              </a:p>
              <a:p>
                <a:pPr lvl="0"/>
                <a:r>
                  <a:rPr>
                    <a:latin typeface="Courier"/>
                  </a:rPr>
                  <a:t>HASH</a:t>
                </a:r>
                <a:r>
                  <a:rPr/>
                  <a:t>: Segel digital (SHA-256).</a:t>
                </a:r>
              </a:p>
              <a:p>
                <a:pPr lvl="0"/>
                <a:r>
                  <a:rPr>
                    <a:latin typeface="Courier"/>
                  </a:rPr>
                  <a:t>CREATOR_ROLE</a:t>
                </a:r>
                <a:r>
                  <a:rPr/>
                  <a:t>: Jabatan penandatangan (RBAC).</a:t>
                </a:r>
              </a:p>
              <a:p>
                <a:pPr lvl="0"/>
                <a:r>
                  <a:rPr>
                    <a:latin typeface="Courier"/>
                  </a:rPr>
                  <a:t>AUDIT_LOG_ID</a:t>
                </a:r>
                <a:r>
                  <a:rPr/>
                  <a:t>: Jejak riwayat sistem.</a:t>
                </a:r>
              </a:p>
              <a:p>
                <a:pPr lvl="0"/>
                <a:r>
                  <a:rPr>
                    <a:latin typeface="Courier"/>
                  </a:rPr>
                  <a:t>CLASSIFICATION</a:t>
                </a:r>
                <a:r>
                  <a:rPr/>
                  <a:t>: Vital/Internal/Rahasia.</a:t>
                </a:r>
              </a:p>
              <a:p>
                <a:pPr lvl="0"/>
                <a:r>
                  <a:rPr>
                    <a:latin typeface="Courier"/>
                  </a:rPr>
                  <a:t>RETENTION_RULE</a:t>
                </a:r>
                <a:r>
                  <a:rPr/>
                  <a:t>: Jadwal JRA otomatis.</a:t>
                </a:r>
              </a:p>
              <a:p>
                <a:pPr lvl="0"/>
                <a:r>
                  <a:rPr>
                    <a:latin typeface="Courier"/>
                  </a:rPr>
                  <a:t>ASSET_ID</a:t>
                </a:r>
                <a:r>
                  <a:rPr/>
                  <a:t>: Referensi aset (SAP-PM).</a:t>
                </a:r>
              </a:p>
              <a:p>
                <a:pPr lvl="0"/>
                <a:r>
                  <a:rPr>
                    <a:latin typeface="Courier"/>
                  </a:rPr>
                  <a:t>WO_REF</a:t>
                </a:r>
                <a:r>
                  <a:rPr/>
                  <a:t>: Referensi Work Order.</a:t>
                </a:r>
              </a:p>
              <a:p>
                <a:pPr lvl="0"/>
                <a:r>
                  <a:rPr>
                    <a:latin typeface="Courier"/>
                  </a:rPr>
                  <a:t>CONTRACT_REF</a:t>
                </a:r>
                <a:r>
                  <a:rPr/>
                  <a:t>: No. Kontrak Korporat.</a:t>
                </a:r>
              </a:p>
              <a:p>
                <a:pPr lvl="0"/>
                <a:r>
                  <a:rPr>
                    <a:latin typeface="Courier"/>
                  </a:rPr>
                  <a:t>LOCATION</a:t>
                </a:r>
                <a:r>
                  <a:rPr/>
                  <a:t>: Kode GIS operasional.</a:t>
                </a:r>
              </a:p>
              <a:p>
                <a:pPr lvl="0"/>
                <a:r>
                  <a:rPr>
                    <a:latin typeface="Courier"/>
                  </a:rPr>
                  <a:t>CREATOR_UNIT</a:t>
                </a:r>
                <a:r>
                  <a:rPr/>
                  <a:t>: Unit pencipta arsip.</a:t>
                </a:r>
              </a:p>
              <a:p>
                <a:pPr lvl="0"/>
                <a:r>
                  <a:rPr>
                    <a:latin typeface="Courier"/>
                  </a:rPr>
                  <a:t>CONTENT_DESC</a:t>
                </a:r>
                <a:r>
                  <a:rPr/>
                  <a:t>: Ringkasan isi naskah.</a:t>
                </a:r>
                <a:r>
                  <a:rPr baseline="30000"/>
                  <a:t>*</a:t>
                </a:r>
              </a:p>
              <a:p>
                <a:pPr lvl="0"/>
                <a:r>
                  <a:rPr>
                    <a:latin typeface="Courier"/>
                  </a:rPr>
                  <a:t>SEARCH_TAGS</a:t>
                </a:r>
                <a:r>
                  <a:rPr/>
                  <a:t>: Kata kunci pencarian.</a:t>
                </a:r>
                <a:r>
                  <a:rPr baseline="30000"/>
                  <a:t>*</a:t>
                </a:r>
              </a:p>
              <a:p>
                <a:pPr lvl="0" indent="0" marL="0">
                  <a:buNone/>
                </a:pPr>
                <a:r>
                  <a:rPr baseline="30000"/>
                  <a:t>*</a:t>
                </a:r>
                <a:r>
                  <a:rPr i="1"/>
                  <a:t>Semi-Mandatory (Enhancement)</a:t>
                </a:r>
              </a:p>
              <a:p>
                <a:pPr lvl="0" indent="0" marL="0">
                  <a:buNone/>
                </a:pPr>
                <a:r>
                  <a:rPr/>
                  <a:t>The Metadata Journey: Struktur Berlapis Arsip Digital</a:t>
                </a:r>
              </a:p>
              <a:p>
                <a:pPr lvl="0" indent="0" marL="0">
                  <a:buNone/>
                </a:pPr>
                <a:r>
                  <a:rPr b="1"/>
                  <a:t>Data Is the New Document:</a:t>
                </a:r>
                <a:br/>
                <a:r>
                  <a:rPr/>
                  <a:t>Arsip digital bukan hanya gambar, melainkan paket data 14-field terstruktur yang menjamin keamanan dan keterlacakan aset PLN sepanjang masa.</a:t>
                </a:r>
              </a:p>
              <a:p>
                <a:pPr lvl="0" indent="0" marL="0">
                  <a:buNone/>
                </a:pPr>
                <a:r>
                  <a:rPr/>
                  <a:t>Keabsahan Hukum: TTE vs TTD Basah</a:t>
                </a:r>
              </a:p>
              <a:p>
                <a:pPr lvl="0" indent="0" marL="0">
                  <a:buNone/>
                </a:pPr>
                <a:r>
                  <a:rPr b="1"/>
                  <a:t>TTE Tersertifikasi</a:t>
                </a:r>
                <a:r>
                  <a:rPr/>
                  <a:t> memiliki kekuatan hukum yang setara dengan tanda tangan basah secara absolut.</a:t>
                </a:r>
              </a:p>
              <a:p>
                <a:pPr lvl="0"/>
                <a:r>
                  <a:rPr b="1"/>
                  <a:t>Autentisitas:</a:t>
                </a:r>
                <a:r>
                  <a:rPr/>
                  <a:t> Terhubung hanya ke pemilik.</a:t>
                </a:r>
              </a:p>
              <a:p>
                <a:pPr lvl="0"/>
                <a:r>
                  <a:rPr b="1"/>
                  <a:t>Integritas:</a:t>
                </a:r>
                <a:r>
                  <a:rPr/>
                  <a:t> Setiap perubahan terdeteksi.</a:t>
                </a:r>
              </a:p>
              <a:p>
                <a:pPr lvl="0"/>
                <a:r>
                  <a:rPr b="1"/>
                  <a:t>Nirsangkal:</a:t>
                </a:r>
                <a:r>
                  <a:rPr/>
                  <a:t> Tidak bisa disangkal.</a:t>
                </a:r>
              </a:p>
              <a:p>
                <a:pPr lvl="0" indent="0" marL="0">
                  <a:buNone/>
                </a:pPr>
                <a:r>
                  <a:rPr i="1"/>
                  <a:t>“Setiap persetujuan digital memiliki status final secara hukum. Perubahan status arsip pasca-validasi wajib direkam dalam log yang tidak dapat dihapus (immutable).”</a:t>
                </a:r>
              </a:p>
              <a:p>
                <a:pPr lvl="0" indent="0" marL="0">
                  <a:buNone/>
                </a:pPr>
                <a:br/>
                <a:r>
                  <a:rPr b="1"/>
                  <a:t>VALID &amp; SECURE</a:t>
                </a:r>
                <a:br/>
                <a:r>
                  <a:rPr/>
                  <a:t>Kepatuhan meliputi:</a:t>
                </a:r>
                <a:br/>
                <a:r>
                  <a:rPr/>
                  <a:t>UU ITE</a:t>
                </a:r>
                <a:br/>
                <a:r>
                  <a:rPr/>
                  <a:t>PP 71/2019 (PSTE)</a:t>
                </a:r>
                <a:br/>
                <a:r>
                  <a:rPr/>
                  <a:t>Perka ANRI No. 6/2021</a:t>
                </a:r>
              </a:p>
              <a:p>
                <a:pPr lvl="0" indent="0" marL="0">
                  <a:buNone/>
                </a:pPr>
                <a:r>
                  <a:rPr/>
                  <a:t>Mekanisme Keamanan: Digital Signature Trust-Chain</a:t>
                </a:r>
              </a:p>
              <a:p>
                <a:pPr lvl="0" indent="0" marL="0">
                  <a:buNone/>
                </a:pPr>
                <a:r>
                  <a:rPr/>
                  <a:t>image</a:t>
                </a:r>
              </a:p>
              <a:p>
                <a:pPr lvl="0" indent="0" marL="0">
                  <a:buNone/>
                </a:pPr>
                <a:r>
                  <a:rPr/>
                  <a:t>Setiap tahap dijamin oleh </a:t>
                </a:r>
                <a:r>
                  <a:rPr b="1"/>
                  <a:t>Root CA terakreditasi</a:t>
                </a:r>
                <a:r>
                  <a:rPr/>
                  <a:t>:</a:t>
                </a:r>
              </a:p>
              <a:p>
                <a:pPr lvl="0"/>
                <a:r>
                  <a:rPr b="1"/>
                  <a:t>Authenticity:</a:t>
                </a:r>
                <a:r>
                  <a:rPr/>
                  <a:t> Identitas terikat sertifikat unik.</a:t>
                </a:r>
              </a:p>
              <a:p>
                <a:pPr lvl="0"/>
                <a:r>
                  <a:rPr b="1"/>
                  <a:t>Integrity:</a:t>
                </a:r>
                <a:r>
                  <a:rPr/>
                  <a:t> Hash menjamin isi tidak berubah.</a:t>
                </a:r>
              </a:p>
              <a:p>
                <a:pPr lvl="0"/>
                <a:r>
                  <a:rPr b="1"/>
                  <a:t>Non-repudiation:</a:t>
                </a:r>
                <a:r>
                  <a:rPr/>
                  <a:t> Bukti kriptografis final.</a:t>
                </a:r>
              </a:p>
              <a:p>
                <a:pPr lvl="0" indent="0" marL="0">
                  <a:buNone/>
                </a:pPr>
                <a:r>
                  <a:rPr/>
                  <a:t>Menghilangkan keraguan legalitas arsip digital dalam proses audit eksternal BPK/BPKP.</a:t>
                </a:r>
              </a:p>
              <a:p>
                <a:pPr lvl="0" indent="0" marL="0">
                  <a:buNone/>
                </a:pPr>
                <a:r>
                  <a:rPr/>
                  <a:t>Menjamin Integritas:</a:t>
                </a:r>
                <a:br/>
                <a:r>
                  <a:rPr/>
                  <a:t>Blockchain Hash Chain &amp; Immutability</a:t>
                </a:r>
              </a:p>
              <a:p>
                <a:pPr lvl="0" indent="0" marL="0">
                  <a:buNone/>
                </a:pPr>
                <a:r>
                  <a:rPr/>
                  <a:t>image</a:t>
                </a:r>
              </a:p>
              <a:p>
                <a:pPr lvl="0" indent="0" marL="0">
                  <a:buNone/>
                </a:pPr>
                <a:r>
                  <a:rPr/>
                  <a:t>Bagaimana sistem mengunci keabsahan arsip:</a:t>
                </a:r>
              </a:p>
              <a:p>
                <a:pPr lvl="0"/>
                <a:r>
                  <a:rPr b="1"/>
                  <a:t>Keterhubungan Kriptografis:</a:t>
                </a:r>
                <a:r>
                  <a:rPr/>
                  <a:t> Setiap blok data membawa identitas (*hash*) dari data sebelumnya.</a:t>
                </a:r>
              </a:p>
              <a:p>
                <a:pPr lvl="0"/>
                <a:r>
                  <a:rPr b="1"/>
                  <a:t>Segel Kepercayaan:</a:t>
                </a:r>
                <a:r>
                  <a:rPr/>
                  <a:t> Perubahan pada satu byte data akan merusak seluruh rantai validasi.</a:t>
                </a:r>
              </a:p>
              <a:p>
                <a:pPr lvl="0"/>
                <a:r>
                  <a:rPr b="1"/>
                  <a:t>Bukti Manipulasi:</a:t>
                </a:r>
                <a:r>
                  <a:rPr/>
                  <a:t> Upaya manipulasi akan terdeteksi seketika oleh sistem audit.</a:t>
                </a:r>
              </a:p>
              <a:p>
                <a:pPr lvl="0" indent="0" marL="0">
                  <a:buNone/>
                </a:pPr>
                <a:r>
                  <a:rPr/>
                  <a:t>Menjamin bahwa arsip yang tercipta hari ini akan tetap memiliki bukti otentisitas yang sama hingga puluhan tahun mendatang.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Analisis ROI &amp; Tindak Lanjut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Metodologi Pengukuran: </a:t>
                </a:r>
                <a:r>
                  <a:rPr i="1"/>
                  <a:t>Time-Cost-Risk Saving</a:t>
                </a:r>
              </a:p>
              <a:p>
                <a:pPr lvl="0"/>
                <a:r>
                  <a:rPr b="1"/>
                  <a:t>Time Saving:</a:t>
                </a:r>
                <a:r>
                  <a:rPr/>
                  <a:t> Pemangkasan waktu tunggu &amp; durasi proses.</a:t>
                </a:r>
              </a:p>
              <a:p>
                <a:pPr lvl="0"/>
                <a:r>
                  <a:rPr b="1"/>
                  <a:t>Cost Saving:</a:t>
                </a:r>
                <a:r>
                  <a:rPr/>
                  <a:t> Reduksi pengeluaran riil (cetak, depo arsip).</a:t>
                </a:r>
              </a:p>
              <a:p>
                <a:pPr lvl="0"/>
                <a:r>
                  <a:rPr b="1"/>
                  <a:t>Risk Saving:</a:t>
                </a:r>
                <a:r>
                  <a:rPr/>
                  <a:t> Perlindungan sanksi hukum &amp; kehilangan data.</a:t>
                </a:r>
              </a:p>
              <a:p>
                <a:pPr lvl="0" indent="0" marL="0">
                  <a:buNone/>
                </a:pPr>
                <a:r>
                  <a:rPr b="1"/>
                  <a:t>Productivity Gain:</a:t>
                </a:r>
                <a:br/>
                <a14:m>
                  <m:oMath xmlns:m="http://schemas.openxmlformats.org/officeDocument/2006/math">
                    <m:r>
                      <m:t>Δ</m:t>
                    </m:r>
                  </m:oMath>
                </a14:m>
                <a:r>
                  <a:rPr/>
                  <a:t>Waktu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</m:oMath>
                </a14:m>
                <a:r>
                  <a:rPr/>
                  <a:t> Volume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</m:oMath>
                </a14:m>
                <a:r>
                  <a:rPr/>
                  <a:t> Biaya/Jam</a:t>
                </a:r>
                <a:br/>
                <a:r>
                  <a:rPr b="1"/>
                  <a:t>Cost Avoidance:</a:t>
                </a:r>
                <a:br/>
                <a:r>
                  <a:rPr/>
                  <a:t>Eliminasi cetak ulang, kurir, sewa depo arsip.</a:t>
                </a:r>
                <a:br/>
                <a:r>
                  <a:rPr b="1"/>
                  <a:t>Risk Reduction:</a:t>
                </a:r>
                <a:br/>
                <a:r>
                  <a:rPr/>
                  <a:t>Denda litigasi &amp; temuan audit (BPK/BPKP). </a:t>
                </a:r>
                <a:r>
                  <a:rPr b="1"/>
                  <a:t>Time</a:t>
                </a:r>
                <a:r>
                  <a:rPr/>
                  <a:t> &amp; </a:t>
                </a:r>
                <a:r>
                  <a:rPr b="1"/>
                  <a:t>Cost</a:t>
                </a:r>
                <a:r>
                  <a:rPr/>
                  <a:t> = Efisiensi Hari Ini</a:t>
                </a:r>
                <a:br/>
                <a:r>
                  <a:rPr b="1"/>
                  <a:t>Risk</a:t>
                </a:r>
                <a:r>
                  <a:rPr/>
                  <a:t> = Keamanan Masa Depan</a:t>
                </a:r>
              </a:p>
              <a:p>
                <a:pPr lvl="0" indent="0" marL="0">
                  <a:buNone/>
                </a:pPr>
                <a:r>
                  <a:rPr/>
                  <a:t>4 Indikator Kinerja Utama (KPI)</a:t>
                </a:r>
              </a:p>
              <a:p>
                <a:pPr lvl="0" indent="0" marL="0">
                  <a:buNone/>
                </a:pPr>
                <a:br/>
                <a:r>
                  <a:rPr b="1"/>
                  <a:t>Waktu Siklus</a:t>
                </a:r>
                <a:br/>
                <a:r>
                  <a:rPr/>
                  <a:t>(</a:t>
                </a:r>
                <a:r>
                  <a:rPr i="1"/>
                  <a:t>Cycle Time</a:t>
                </a:r>
                <a:r>
                  <a:rPr/>
                  <a:t>)</a:t>
                </a:r>
                <a:br/>
                <a:r>
                  <a:rPr/>
                  <a:t>Target: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↓</m:t>
                    </m:r>
                  </m:oMath>
                </a14:m>
                <a:r>
                  <a:rPr/>
                  <a:t> 40–60%</a:t>
                </a:r>
                <a:br/>
                <a:r>
                  <a:rPr/>
                  <a:t>(5 hari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1–2 hari)</a:t>
                </a:r>
              </a:p>
              <a:p>
                <a:pPr lvl="0" indent="0" marL="0">
                  <a:buNone/>
                </a:pPr>
                <a:br/>
                <a:r>
                  <a:rPr b="1"/>
                  <a:t>Ketepatan Awal</a:t>
                </a:r>
                <a:br/>
                <a:r>
                  <a:rPr/>
                  <a:t>(</a:t>
                </a:r>
                <a:r>
                  <a:rPr i="1"/>
                  <a:t>First-Time Accuracy</a:t>
                </a:r>
                <a:r>
                  <a:rPr/>
                  <a:t>)</a:t>
                </a:r>
                <a:br/>
                <a:r>
                  <a:rPr/>
                  <a:t>Target: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↑</m:t>
                    </m:r>
                  </m:oMath>
                </a14:m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≥</m:t>
                    </m:r>
                  </m:oMath>
                </a14:m>
                <a:r>
                  <a:rPr/>
                  <a:t>90%</a:t>
                </a:r>
                <a:br/>
                <a:r>
                  <a:rPr/>
                  <a:t>Lolos validasi tanpa revisi</a:t>
                </a:r>
              </a:p>
              <a:p>
                <a:pPr lvl="0" indent="0" marL="0">
                  <a:buNone/>
                </a:pPr>
                <a:br/>
                <a:r>
                  <a:rPr b="1"/>
                  <a:t>Waktu Temu Kembali</a:t>
                </a:r>
                <a:br/>
                <a:r>
                  <a:rPr/>
                  <a:t>(</a:t>
                </a:r>
                <a:r>
                  <a:rPr i="1"/>
                  <a:t>Retrieval Speed</a:t>
                </a:r>
                <a:r>
                  <a:rPr/>
                  <a:t>)</a:t>
                </a:r>
                <a:br/>
                <a:r>
                  <a:rPr/>
                  <a:t>Target: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&lt;</m:t>
                    </m:r>
                  </m:oMath>
                </a14:m>
                <a:r>
                  <a:rPr/>
                  <a:t> 30 Detik</a:t>
                </a:r>
                <a:br/>
                <a:r>
                  <a:rPr/>
                  <a:t>(query digital)</a:t>
                </a:r>
              </a:p>
              <a:p>
                <a:pPr lvl="0" indent="0" marL="0">
                  <a:buNone/>
                </a:pPr>
                <a:br/>
                <a:r>
                  <a:rPr b="1"/>
                  <a:t>Kepatuhan Prosedur</a:t>
                </a:r>
                <a:br/>
                <a:r>
                  <a:rPr/>
                  <a:t>(</a:t>
                </a:r>
                <a:r>
                  <a:rPr i="1"/>
                  <a:t>Compliance Rate</a:t>
                </a:r>
                <a:r>
                  <a:rPr/>
                  <a:t>)</a:t>
                </a:r>
                <a:br/>
                <a:r>
                  <a:rPr/>
                  <a:t>Target: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≥</m:t>
                    </m:r>
                  </m:oMath>
                </a14:m>
                <a:r>
                  <a:rPr/>
                  <a:t> 95%</a:t>
                </a:r>
                <a:br/>
                <a:r>
                  <a:rPr/>
                  <a:t>SLA + Retensi + Audit</a:t>
                </a:r>
              </a:p>
              <a:p>
                <a:pPr lvl="0"/>
                <a:r>
                  <a:rPr b="1"/>
                  <a:t>Arsip Digital:</a:t>
                </a:r>
                <a:r>
                  <a:rPr/>
                  <a:t> Audit trail, TTE, hash (</a:t>
                </a:r>
                <a:r>
                  <a:rPr i="1"/>
                  <a:t>immutable</a:t>
                </a:r>
                <a:r>
                  <a:rPr/>
                  <a:t>), metadata otomatis.</a:t>
                </a:r>
              </a:p>
              <a:p>
                <a:pPr lvl="0"/>
                <a:r>
                  <a:rPr b="1"/>
                  <a:t>Arsip Hibrida:</a:t>
                </a:r>
                <a:r>
                  <a:rPr/>
                  <a:t> Sinkronisasi fisik-digital &amp; label retensi JRA.</a:t>
                </a:r>
              </a:p>
              <a:p>
                <a:pPr lvl="0" indent="0" marL="0">
                  <a:buNone/>
                </a:pPr>
                <a:r>
                  <a:rPr/>
                  <a:t>Efficiency Heatmap: Transformasi Kecepatan Layanan</a:t>
                </a:r>
              </a:p>
              <a:p>
                <a:pPr lvl="0" indent="0" marL="0">
                  <a:buNone/>
                </a:pPr>
                <a:r>
                  <a:rPr/>
                  <a:t>Perbandingan durasi siklus antara metode konvensional (Manual) dengan metode terintegrasi (Digital).</a:t>
                </a:r>
              </a:p>
              <a:p>
                <a:pPr lvl="0" indent="0" marL="0">
                  <a:buNone/>
                </a:pPr>
                <a:r>
                  <a:rPr/>
                  <a:t>Kerangka Kerja Strategis: Balanced Scorecard (BSC)</a:t>
                </a:r>
              </a:p>
              <a:p>
                <a:pPr lvl="0" indent="0" marL="0">
                  <a:buNone/>
                </a:pPr>
                <a:r>
                  <a:rPr/>
                  <a:t>image</a:t>
                </a:r>
              </a:p>
              <a:p>
                <a:pPr lvl="0" indent="0" marL="0">
                  <a:buNone/>
                </a:pPr>
                <a:r>
                  <a:rPr/>
                  <a:t>Penerapan 4 perspektif BSC dalam dashboard:</a:t>
                </a:r>
              </a:p>
              <a:p>
                <a:pPr lvl="0"/>
                <a:r>
                  <a:rPr b="1"/>
                  <a:t>Financial:</a:t>
                </a:r>
                <a:r>
                  <a:rPr/>
                  <a:t> Penghematan biaya ruang &amp; operasional melalui eliminasi kertas (</a:t>
                </a:r>
                <a:r>
                  <a:rPr i="1"/>
                  <a:t>Cost Saved</a:t>
                </a:r>
                <a:r>
                  <a:rPr/>
                  <a:t>).</a:t>
                </a:r>
              </a:p>
              <a:p>
                <a:pPr lvl="0"/>
                <a:r>
                  <a:rPr b="1"/>
                  <a:t>Customer:</a:t>
                </a:r>
                <a:r>
                  <a:rPr/>
                  <a:t> Kecepatan &amp; ketepatan layanan data bagi unit kerja (</a:t>
                </a:r>
                <a:r>
                  <a:rPr i="1"/>
                  <a:t>Accuracy Rate</a:t>
                </a:r>
                <a:r>
                  <a:rPr/>
                  <a:t>).</a:t>
                </a:r>
              </a:p>
              <a:p>
                <a:pPr lvl="0"/>
                <a:r>
                  <a:rPr b="1"/>
                  <a:t>Internal Process:</a:t>
                </a:r>
                <a:r>
                  <a:rPr/>
                  <a:t> Efisiensi siklus hidup dokumen dari penciptaan hingga preservasi (</a:t>
                </a:r>
                <a:r>
                  <a:rPr i="1"/>
                  <a:t>Cycle Time</a:t>
                </a:r>
                <a:r>
                  <a:rPr/>
                  <a:t>).</a:t>
                </a:r>
              </a:p>
              <a:p>
                <a:pPr lvl="0"/>
                <a:r>
                  <a:rPr b="1"/>
                  <a:t>Learning &amp; Growth:</a:t>
                </a:r>
                <a:r>
                  <a:rPr/>
                  <a:t> Kepatuhan standar kearsipan &amp; indeks literasi digital (</a:t>
                </a:r>
                <a:r>
                  <a:rPr i="1"/>
                  <a:t>Compliance Status</a:t>
                </a:r>
                <a:r>
                  <a:rPr/>
                  <a:t>).</a:t>
                </a:r>
              </a:p>
              <a:p>
                <a:pPr lvl="0" indent="0" marL="0">
                  <a:buNone/>
                </a:pPr>
                <a:r>
                  <a:rPr/>
                  <a:t>Menjamin bahwa setiap angka yang dipantau oleh eksekutif memiliki korelasi langsung dengan pencapaian visi strategis korporat.</a:t>
                </a:r>
              </a:p>
              <a:p>
                <a:pPr lvl="0" indent="0" marL="0">
                  <a:buNone/>
                </a:pPr>
                <a:r>
                  <a:rPr/>
                  <a:t>Dashboard Executive: Real-Time KPI Tracker *Seluruh data di bawah ini adalah data simulasi untuk kepentingan diklat</a:t>
                </a:r>
              </a:p>
              <a:p>
                <a:pPr lvl="0" indent="0" marL="0">
                  <a:buNone/>
                </a:pPr>
                <a:r>
                  <a:rPr b="1"/>
                  <a:t>Visibility &amp; Control:</a:t>
                </a:r>
                <a:r>
                  <a:rPr/>
                  <a:t> Pimpinan dapat memonitor kesehatan proses bisnis di seluruh unit secara </a:t>
                </a:r>
                <a:r>
                  <a:rPr i="1"/>
                  <a:t>real-time</a:t>
                </a:r>
                <a:r>
                  <a:rPr/>
                  <a:t>, mendeteksi </a:t>
                </a:r>
                <a:r>
                  <a:rPr i="1"/>
                  <a:t>bottleneck</a:t>
                </a:r>
                <a:r>
                  <a:rPr/>
                  <a:t> sebelum menjadi risiko hukum.</a:t>
                </a:r>
              </a:p>
              <a:p>
                <a:pPr lvl="0" indent="0" marL="0">
                  <a:buNone/>
                </a:pPr>
                <a:r>
                  <a:rPr/>
                  <a:t>Studi Kasus: BA Penormalan GI 150 kV — Kondisi Awal</a:t>
                </a:r>
              </a:p>
              <a:p>
                <a:pPr lvl="0"/>
                <a:r>
                  <a:rPr/>
                  <a:t>UIT Jawa Tengah – Area GI</a:t>
                </a:r>
              </a:p>
              <a:p>
                <a:pPr lvl="0"/>
                <a:r>
                  <a:rPr/>
                  <a:t>48 Gardu Induk 150 kV</a:t>
                </a:r>
              </a:p>
              <a:p>
                <a:pPr lvl="0"/>
                <a:r>
                  <a:rPr/>
                  <a:t>1.200 Perintah Kerja/tahun</a:t>
                </a:r>
              </a:p>
              <a:p>
                <a:pPr lvl="0"/>
                <a:r>
                  <a:rPr/>
                  <a:t>Sistem: ERP + Arsip Fisik + Email</a:t>
                </a:r>
              </a:p>
              <a:p>
                <a:pPr lvl="0" indent="0" marL="0">
                  <a:buNone/>
                </a:pPr>
                <a:r>
                  <a:rPr/>
                  <a:t>Trigger Auto-Capture dari SCADA</a:t>
                </a:r>
              </a:p>
              <a:p>
                <a:pPr lvl="0" indent="0" marL="0">
                  <a:buNone/>
                </a:pPr>
                <a:r>
                  <a:rPr/>
                  <a:t>Parallel Routing ke Asset Owner &amp; Dispatcher</a:t>
                </a:r>
              </a:p>
              <a:p>
                <a:pPr lvl="0" indent="0" marL="0">
                  <a:buNone/>
                </a:pPr>
                <a:r>
                  <a:rPr/>
                  <a:t>SLA Escalation (timeout 1 jam)</a:t>
                </a:r>
              </a:p>
              <a:p>
                <a:pPr lvl="0" indent="0" marL="0">
                  <a:buNone/>
                </a:pPr>
                <a:r>
                  <a:rPr/>
                  <a:t>Hash-Lock Immutable Repository</a:t>
                </a:r>
              </a:p>
              <a:p>
                <a:pPr lvl="0" indent="0" marL="0">
                  <a:buNone/>
                </a:pPr>
                <a:r>
                  <a:rPr/>
                  <a:t>Asumsi &amp; Basis Kalkulasi Studi Kasus</a:t>
                </a:r>
              </a:p>
              <a:p>
                <a:pPr lvl="0" indent="0" marL="0">
                  <a:buNone/>
                </a:pPr>
                <a:r>
                  <a:rPr/>
                  <a:t>Data yang disajikan merupakan </a:t>
                </a:r>
                <a:r>
                  <a:rPr b="1"/>
                  <a:t>asumsi pemodelan pedagogis</a:t>
                </a:r>
                <a:r>
                  <a:rPr/>
                  <a:t>. Dalam aplikasi nyata, MA </a:t>
                </a:r>
                <a:r>
                  <a:rPr b="1"/>
                  <a:t>wajib mengganti parameter ini</a:t>
                </a:r>
                <a:r>
                  <a:rPr/>
                  <a:t> dengan data faktual unit kerja masing-masing.</a:t>
                </a:r>
              </a:p>
              <a:p>
                <a:pPr lvl="0" indent="0" marL="0">
                  <a:buNone/>
                </a:pPr>
                <a:r>
                  <a:rPr/>
                  <a:t>Studi Kasus: BA Penormalan GI 150 kV — Hasil 90 Hari Pilot</a:t>
                </a:r>
              </a:p>
              <a:p>
                <a:pPr lvl="0" indent="0" marL="0">
                  <a:buNone/>
                </a:pPr>
                <a:r>
                  <a:rPr b="1"/>
                  <a:t>Keberhasilan tercepat:</a:t>
                </a:r>
                <a:r>
                  <a:rPr/>
                  <a:t> Eliminasi cetak-pindai-unggah (60% penghematan waktu siklus). </a:t>
                </a:r>
                <a:r>
                  <a:rPr b="1"/>
                  <a:t>Faktor kunci:</a:t>
                </a:r>
                <a:r>
                  <a:rPr/>
                  <a:t> Manajer Area sebagai </a:t>
                </a:r>
                <a:r>
                  <a:rPr i="1"/>
                  <a:t>champion</a:t>
                </a:r>
                <a:r>
                  <a:rPr/>
                  <a:t> proyek + penegakan SLA tanpa pengecualian. </a:t>
                </a:r>
                <a:r>
                  <a:rPr b="1"/>
                  <a:t>Hambatan:</a:t>
                </a:r>
                <a:r>
                  <a:rPr/>
                  <a:t> Resistensi penyelia senior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diatasi dengan demonstrasi audit trail digital.</a:t>
                </a:r>
              </a:p>
              <a:p>
                <a:pPr lvl="0" indent="0" marL="0">
                  <a:buNone/>
                </a:pPr>
                <a:r>
                  <a:rPr/>
                  <a:t>Analisis ROI: Investasi vs Manfaat (Proyeksi Simulasi) *Kalkulasi di bawah adalah model proyeksi untuk menunjukkan metodologi penghitungan.</a:t>
                </a:r>
              </a:p>
              <a:p>
                <a:pPr lvl="0" indent="0" marL="0">
                  <a:buNone/>
                </a:pPr>
                <a:r>
                  <a:rPr b="1"/>
                  <a:t>ROI: 550%</a:t>
                </a:r>
                <a:r>
                  <a:rPr/>
                  <a:t> | </a:t>
                </a:r>
                <a:r>
                  <a:rPr b="1"/>
                  <a:t>PAYBACK: &lt; 2 BULAN</a:t>
                </a:r>
                <a:r>
                  <a:rPr/>
                  <a:t> | </a:t>
                </a:r>
                <a:r>
                  <a:rPr b="1"/>
                  <a:t>Keuntungan Bersih: Rp 885 Jt</a:t>
                </a:r>
              </a:p>
              <a:p>
                <a:pPr lvl="0" indent="0" marL="0">
                  <a:buNone/>
                </a:pPr>
                <a:r>
                  <a:rPr i="1" baseline="30000"/>
                  <a:t>*</a:t>
                </a:r>
                <a:r>
                  <a:rPr i="1"/>
                  <a:t>Angka merupakan asumsi pemodelan pedagogis. Peserta wajib mengganti parameter dengan data faktual unit kerja saat menyusun Business Case.</a:t>
                </a:r>
              </a:p>
              <a:p>
                <a:pPr lvl="0" indent="0" marL="0">
                  <a:buNone/>
                </a:pPr>
                <a:r>
                  <a:rPr/>
                  <a:t>Workshop 2: Penyusunan Business Case &amp; Action Plan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Hitung potensi efisiensi dari proses yang telah dirancang di Workshop 1.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Isi </a:t>
                </a:r>
                <a:r>
                  <a:rPr b="1"/>
                  <a:t>Business Case 1 Halaman</a:t>
                </a:r>
                <a:r>
                  <a:rPr/>
                  <a:t> dengan komponen:</a:t>
                </a:r>
                <a:br/>
                <a:r>
                  <a:rPr/>
                  <a:t>Latar Belakang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Solusi Usulan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Target KPI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Estimasi ROI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Timeline 30 Hari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PIC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Susun </a:t>
                </a:r>
                <a:r>
                  <a:rPr b="1"/>
                  <a:t>Action Plan 30 Hari</a:t>
                </a:r>
                <a:r>
                  <a:rPr/>
                  <a:t> dengan Target mingguan &amp; penanggung jawab.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Presentasi singkat (3 menit) untuk validasi kelayakan implementasi.</a:t>
                </a:r>
              </a:p>
              <a:p>
                <a:pPr lvl="0" indent="0" marL="0">
                  <a:buNone/>
                </a:pPr>
                <a:r>
                  <a:rPr/>
                  <a:t>Dokumen ini dapat langsung digunakan sebagai usulan </a:t>
                </a:r>
                <a:r>
                  <a:rPr b="1"/>
                  <a:t>pilot project</a:t>
                </a:r>
                <a:r>
                  <a:rPr/>
                  <a:t> di unit kerja peserta.</a:t>
                </a:r>
              </a:p>
              <a:p>
                <a:pPr lvl="0" indent="0" marL="0">
                  <a:buNone/>
                </a:pPr>
                <a:r>
                  <a:rPr/>
                  <a:t>Manajemen Perubahan: Mengantisipasi Resistensi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Kebiasaan:</a:t>
                </a:r>
                <a:r>
                  <a:rPr/>
                  <a:t> “Cara lama sudah berjalan baik.”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Kompetensi:</a:t>
                </a:r>
                <a:r>
                  <a:rPr/>
                  <a:t> “Saya tidak mengerti teknologi ini.”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Kewenangan:</a:t>
                </a:r>
                <a:r>
                  <a:rPr/>
                  <a:t> “Ini mengubah struktur keputusan.”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Kepercayaan:</a:t>
                </a:r>
                <a:r>
                  <a:rPr/>
                  <a:t> “TTD basah lebih sah secara hukum.”</a:t>
                </a:r>
              </a:p>
              <a:p>
                <a:pPr lvl="0" indent="0" marL="0">
                  <a:buNone/>
                </a:pPr>
                <a:r>
                  <a:rPr b="1"/>
                  <a:t>Quick Win</a:t>
                </a:r>
              </a:p>
              <a:p>
                <a:pPr lvl="0" indent="0" marL="1270000">
                  <a:buNone/>
                </a:pPr>
                <a:r>
                  <a:rPr sz="2000"/>
                  <a:t>Pilot 1 unit terbaik, bukti nyata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&lt;</m:t>
                    </m:r>
                  </m:oMath>
                </a14:m>
                <a:r>
                  <a:rPr sz="2000"/>
                  <a:t>30 hari.</a:t>
                </a:r>
              </a:p>
              <a:p>
                <a:pPr lvl="0" indent="0" marL="0">
                  <a:buNone/>
                </a:pPr>
                <a:r>
                  <a:rPr b="1"/>
                  <a:t>Duta Kearsipan</a:t>
                </a:r>
              </a:p>
              <a:p>
                <a:pPr lvl="0" indent="0" marL="1270000">
                  <a:buNone/>
                </a:pPr>
                <a:r>
                  <a:rPr sz="2000"/>
                  <a:t>Supervisor muda sebagai agen perubahan.</a:t>
                </a:r>
              </a:p>
              <a:p>
                <a:pPr lvl="0" indent="0" marL="0">
                  <a:buNone/>
                </a:pPr>
                <a:r>
                  <a:rPr b="1"/>
                  <a:t>Legitimasi Hukum</a:t>
                </a:r>
              </a:p>
              <a:p>
                <a:pPr lvl="0" indent="0" marL="1270000">
                  <a:buNone/>
                </a:pPr>
                <a:r>
                  <a:rPr sz="2000"/>
                  <a:t>Instruksi resmi: TTE = sah mutlak.</a:t>
                </a:r>
              </a:p>
              <a:p>
                <a:pPr lvl="0" indent="0" marL="0">
                  <a:buNone/>
                </a:pPr>
                <a:r>
                  <a:rPr b="1"/>
                  <a:t>Insentif &amp; Audit</a:t>
                </a:r>
              </a:p>
              <a:p>
                <a:pPr lvl="0" indent="0" marL="1270000">
                  <a:buNone/>
                </a:pPr>
                <a:r>
                  <a:rPr sz="2000"/>
                  <a:t>Kepatuhan digital masuk SKI kinerja individu.</a:t>
                </a:r>
              </a:p>
              <a:p>
                <a:pPr lvl="0" indent="0" marL="0">
                  <a:buNone/>
                </a:pPr>
                <a:r>
                  <a:rPr b="1"/>
                  <a:t>Dashboard</a:t>
                </a:r>
              </a:p>
              <a:p>
                <a:pPr lvl="0" indent="0" marL="1270000">
                  <a:buNone/>
                </a:pPr>
                <a:r>
                  <a:rPr sz="2000"/>
                  <a:t>Sajikan data efisiensi berkala di rapat manajemen.</a:t>
                </a:r>
              </a:p>
              <a:p>
                <a:pPr lvl="0" indent="0" marL="0">
                  <a:buNone/>
                </a:pPr>
                <a:r>
                  <a:rPr/>
                  <a:t>Metodologi ADKAR: Framework Transformasi SDM</a:t>
                </a:r>
              </a:p>
              <a:p>
                <a:pPr lvl="0" indent="0" marL="0">
                  <a:buNone/>
                </a:pPr>
                <a:r>
                  <a:rPr/>
                  <a:t>image</a:t>
                </a:r>
              </a:p>
              <a:p>
                <a:pPr lvl="0" indent="0" marL="0">
                  <a:buNone/>
                </a:pPr>
                <a:r>
                  <a:rPr/>
                  <a:t>ADKAR sebagai solusi terstruktur:</a:t>
                </a:r>
              </a:p>
              <a:p>
                <a:pPr lvl="0"/>
                <a:r>
                  <a:rPr b="1"/>
                  <a:t>Kesadaran &amp; Keinginan:</a:t>
                </a:r>
                <a:r>
                  <a:rPr/>
                  <a:t> Membangun urgensi &amp; kemauan untuk meninggalkan </a:t>
                </a:r>
                <a:r>
                  <a:rPr b="1"/>
                  <a:t>Kebiasaan</a:t>
                </a:r>
                <a:r>
                  <a:rPr/>
                  <a:t> lama dan menumbuhkan </a:t>
                </a:r>
                <a:r>
                  <a:rPr b="1"/>
                  <a:t>Kepercayaan</a:t>
                </a:r>
                <a:r>
                  <a:rPr/>
                  <a:t> pada sistem.</a:t>
                </a:r>
              </a:p>
              <a:p>
                <a:pPr lvl="0"/>
                <a:r>
                  <a:rPr b="1"/>
                  <a:t>Pengetahuan &amp; Kemampuan:</a:t>
                </a:r>
                <a:r>
                  <a:rPr/>
                  <a:t> Memberikan pembekalan teknis untuk menghilangkan celah </a:t>
                </a:r>
                <a:r>
                  <a:rPr b="1"/>
                  <a:t>Kompetensi</a:t>
                </a:r>
                <a:r>
                  <a:rPr/>
                  <a:t>.</a:t>
                </a:r>
              </a:p>
              <a:p>
                <a:pPr lvl="0"/>
                <a:r>
                  <a:rPr b="1"/>
                  <a:t>Penguatan:</a:t>
                </a:r>
                <a:r>
                  <a:rPr/>
                  <a:t> Memastikan keberlanjutan melalui kebijakan </a:t>
                </a:r>
                <a:r>
                  <a:rPr b="1"/>
                  <a:t>Kewenangan</a:t>
                </a:r>
                <a:r>
                  <a:rPr/>
                  <a:t> dan insentif KPI.</a:t>
                </a:r>
              </a:p>
              <a:p>
                <a:pPr lvl="0" indent="0" marL="0">
                  <a:buNone/>
                </a:pPr>
                <a:r>
                  <a:rPr/>
                  <a:t>Keberhasilan digitalisasi arsip di PLN ditentukan 20% oleh teknologi dan 80% oleh kesiapan manusia dalam mengadopsinya.</a:t>
                </a:r>
              </a:p>
              <a:p>
                <a:pPr lvl="0" indent="0" marL="0">
                  <a:buNone/>
                </a:pPr>
                <a:r>
                  <a:rPr/>
                  <a:t>Leading Change: Kerangka Kerja Kotter (8-Step Model)</a:t>
                </a:r>
              </a:p>
              <a:p>
                <a:pPr lvl="0" indent="0" marL="0">
                  <a:buNone/>
                </a:pPr>
                <a:r>
                  <a:rPr/>
                  <a:t>image</a:t>
                </a:r>
              </a:p>
              <a:p>
                <a:pPr lvl="0" indent="0" marL="0">
                  <a:buNone/>
                </a:pPr>
                <a:r>
                  <a:rPr/>
                  <a:t>Pendekatan PLN selaras dengan </a:t>
                </a:r>
                <a:r>
                  <a:rPr i="1"/>
                  <a:t>best practice</a:t>
                </a:r>
                <a:r>
                  <a:rPr/>
                  <a:t> global:</a:t>
                </a:r>
              </a:p>
              <a:p>
                <a:pPr lvl="0"/>
                <a:r>
                  <a:rPr b="1"/>
                  <a:t>Membentuk Koalisi:</a:t>
                </a:r>
                <a:r>
                  <a:rPr/>
                  <a:t> Diimplementasikan melalui penunjukan </a:t>
                </a:r>
                <a:r>
                  <a:rPr b="1"/>
                  <a:t>Duta Kearsipan</a:t>
                </a:r>
                <a:r>
                  <a:rPr/>
                  <a:t> sebagai agen perubahan.</a:t>
                </a:r>
              </a:p>
              <a:p>
                <a:pPr lvl="0"/>
                <a:r>
                  <a:rPr b="1"/>
                  <a:t>Capaian Jangka Pendek:</a:t>
                </a:r>
                <a:r>
                  <a:rPr/>
                  <a:t> Dibuktikan melalui </a:t>
                </a:r>
                <a:r>
                  <a:rPr b="1"/>
                  <a:t>Quick Win Pilot</a:t>
                </a:r>
                <a:r>
                  <a:rPr/>
                  <a:t> di unit kerja prioritas.</a:t>
                </a:r>
              </a:p>
              <a:p>
                <a:pPr lvl="0"/>
                <a:r>
                  <a:rPr b="1"/>
                  <a:t>Penguatan Budaya:</a:t>
                </a:r>
                <a:r>
                  <a:rPr/>
                  <a:t> Pelembagaan perubahan melalui sistem </a:t>
                </a:r>
                <a:r>
                  <a:rPr b="1"/>
                  <a:t>Insentif, Audit</a:t>
                </a:r>
                <a:r>
                  <a:rPr/>
                  <a:t>, dan transparansi via </a:t>
                </a:r>
                <a:r>
                  <a:rPr b="1"/>
                  <a:t>Dashboard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Transformasi digital yang sukses membutuhkan struktur kepemimpinan yang mampu mengawal perubahan dari tahap urgensi hingga menjadi budaya korporat baru.</a:t>
                </a:r>
              </a:p>
              <a:p>
                <a:pPr lvl="0" indent="0" marL="0">
                  <a:buNone/>
                </a:pPr>
                <a:r>
                  <a:rPr/>
                  <a:t>Peta Pemangku Kepentingan &amp; Pendekatan</a:t>
                </a:r>
              </a:p>
              <a:p>
                <a:pPr lvl="0" indent="0" marL="0">
                  <a:buNone/>
                </a:pPr>
                <a:r>
                  <a:rPr b="1"/>
                  <a:t>Risiko terbesar</a:t>
                </a:r>
                <a:r>
                  <a:rPr/>
                  <a:t> bukan kegagalan teknologi, melainkan </a:t>
                </a:r>
                <a:r>
                  <a:rPr b="1"/>
                  <a:t>Shadow Systems</a:t>
                </a:r>
                <a:r>
                  <a:rPr/>
                  <a:t>: personel tetap menjalankan prosedur manual secara diam-diam. Alokasikan minimal </a:t>
                </a:r>
                <a:r>
                  <a:rPr b="1"/>
                  <a:t>30% anggaran</a:t>
                </a:r>
                <a:r>
                  <a:rPr/>
                  <a:t> untuk aktivitas manajemen perubahan.</a:t>
                </a:r>
              </a:p>
              <a:p>
                <a:pPr lvl="0" indent="0" marL="0">
                  <a:buNone/>
                </a:pPr>
                <a:r>
                  <a:rPr/>
                  <a:t>Analisis Matriks: Power vs Interest Grid</a:t>
                </a:r>
              </a:p>
              <a:p>
                <a:pPr lvl="0" indent="0" marL="0">
                  <a:buNone/>
                </a:pPr>
                <a:r>
                  <a:rPr/>
                  <a:t>image</a:t>
                </a:r>
              </a:p>
              <a:p>
                <a:pPr lvl="0" indent="0" marL="0">
                  <a:buNone/>
                </a:pPr>
                <a:r>
                  <a:rPr/>
                  <a:t>Pemetaan dari tabel pemangku kepentingan:</a:t>
                </a:r>
              </a:p>
              <a:p>
                <a:pPr lvl="0"/>
                <a:r>
                  <a:rPr b="1"/>
                  <a:t>Kelola Secara Intensif (High P/H I):</a:t>
                </a:r>
                <a:r>
                  <a:rPr/>
                  <a:t> General Manager, VP, &amp; Manajer Area (Fokus utama dukungan &amp; kendali).</a:t>
                </a:r>
              </a:p>
              <a:p>
                <a:pPr lvl="0"/>
                <a:r>
                  <a:rPr b="1"/>
                  <a:t>Jaga Kepuasan (High P/L I):</a:t>
                </a:r>
                <a:r>
                  <a:rPr/>
                  <a:t> Supervisor Senior &amp; Auditor (Butuh bukti kepatuhan &amp; efisiensi).</a:t>
                </a:r>
              </a:p>
              <a:p>
                <a:pPr lvl="0"/>
                <a:r>
                  <a:rPr b="1"/>
                  <a:t>Tetap Berikan Informasi (Low P/H I):</a:t>
                </a:r>
                <a:r>
                  <a:rPr/>
                  <a:t> Tim IT &amp; Unit Kearsipan (Mitra kolaborasi teknis operasional).</a:t>
                </a:r>
              </a:p>
              <a:p>
                <a:pPr lvl="0" indent="0" marL="0">
                  <a:buNone/>
                </a:pPr>
                <a:r>
                  <a:rPr/>
                  <a:t>Strategi komunikasi harus disesuaikan dengan posisi tiap kelompok di dalam matriks untuk meminimalkan friksi dan memaksimalkan adopsi.</a:t>
                </a:r>
              </a:p>
              <a:p>
                <a:pPr lvl="0" indent="0" marL="0">
                  <a:buNone/>
                </a:pPr>
                <a:r>
                  <a:rPr/>
                  <a:t>Rencana Aksi 30 Hari &amp; Budaya Kerja</a:t>
                </a:r>
              </a:p>
              <a:p>
                <a:pPr lvl="0" indent="0" marL="0">
                  <a:buNone/>
                </a:pPr>
                <a:r>
                  <a:rPr b="1"/>
                  <a:t>M1</a:t>
                </a:r>
              </a:p>
              <a:p>
                <a:pPr lvl="0" indent="0" marL="1270000">
                  <a:buNone/>
                </a:pPr>
                <a:r>
                  <a:rPr sz="2000" i="1"/>
                  <a:t>Pilot Launch:</a:t>
                </a:r>
                <a:r>
                  <a:rPr sz="2000"/>
                  <a:t> Integrasi API &amp; pelatihan personel unit percontohan.</a:t>
                </a:r>
              </a:p>
              <a:p>
                <a:pPr lvl="0" indent="0" marL="0">
                  <a:buNone/>
                </a:pPr>
                <a:r>
                  <a:rPr b="1"/>
                  <a:t>M2</a:t>
                </a:r>
              </a:p>
              <a:p>
                <a:pPr lvl="0" indent="0" marL="1270000">
                  <a:buNone/>
                </a:pPr>
                <a:r>
                  <a:rPr sz="2000" i="1"/>
                  <a:t>Parallel Run:</a:t>
                </a:r>
                <a:r>
                  <a:rPr sz="2000"/>
                  <a:t> Jalankan proses lama &amp; baru secara bersamaan.</a:t>
                </a:r>
              </a:p>
              <a:p>
                <a:pPr lvl="0" indent="0" marL="0">
                  <a:buNone/>
                </a:pPr>
                <a:r>
                  <a:rPr b="1"/>
                  <a:t>M3</a:t>
                </a:r>
              </a:p>
              <a:p>
                <a:pPr lvl="0" indent="0" marL="1270000">
                  <a:buNone/>
                </a:pPr>
                <a:r>
                  <a:rPr sz="2000" i="1"/>
                  <a:t>Cut-Off:</a:t>
                </a:r>
                <a:r>
                  <a:rPr sz="2000"/>
                  <a:t> Hentikan proses lama, sediakan </a:t>
                </a:r>
                <a:r>
                  <a:rPr sz="2000" i="1"/>
                  <a:t>helpdesk</a:t>
                </a:r>
                <a:r>
                  <a:rPr sz="2000"/>
                  <a:t>.</a:t>
                </a:r>
              </a:p>
              <a:p>
                <a:pPr lvl="0" indent="0" marL="0">
                  <a:buNone/>
                </a:pPr>
                <a:r>
                  <a:rPr b="1"/>
                  <a:t>M4</a:t>
                </a:r>
              </a:p>
              <a:p>
                <a:pPr lvl="0" indent="0" marL="1270000">
                  <a:buNone/>
                </a:pPr>
                <a:r>
                  <a:rPr sz="2000" i="1"/>
                  <a:t>Standardisasi:</a:t>
                </a:r>
                <a:r>
                  <a:rPr sz="2000"/>
                  <a:t> Evaluasi KPI, publikasikan </a:t>
                </a:r>
                <a:r>
                  <a:rPr sz="2000" i="1"/>
                  <a:t>quick win</a:t>
                </a:r>
                <a:r>
                  <a:rPr sz="2000"/>
                  <a:t>, standardisasi SOP.</a:t>
                </a:r>
              </a:p>
              <a:p>
                <a:pPr lvl="0" indent="0" marL="0">
                  <a:buNone/>
                </a:pPr>
                <a:r>
                  <a:rPr/>
                  <a:t>Mendukung </a:t>
                </a:r>
                <a:r>
                  <a:rPr b="1"/>
                  <a:t>Budaya Digital</a:t>
                </a:r>
                <a:r>
                  <a:rPr/>
                  <a:t> di tiap unit melalui pelatihan dan pendampingan sebaya.</a:t>
                </a:r>
              </a:p>
              <a:p>
                <a:pPr lvl="0" indent="0" marL="0">
                  <a:buNone/>
                </a:pPr>
                <a:r>
                  <a:rPr/>
                  <a:t>Jangan pernah mempermalukan personel yang lambat beradaptasi. Gunakan pendekatan </a:t>
                </a:r>
                <a:r>
                  <a:rPr i="1"/>
                  <a:t>“kita belajar bersama”</a:t>
                </a:r>
                <a:r>
                  <a:rPr/>
                  <a:t> dan akui bahwa perubahan memerlukan waktu.</a:t>
                </a:r>
              </a:p>
              <a:p>
                <a:pPr lvl="0" indent="0" marL="0">
                  <a:buNone/>
                </a:pPr>
                <a:r>
                  <a:rPr/>
                  <a:t>Rangkuman: 4 Dokumen Portofolio Wajib</a:t>
                </a:r>
              </a:p>
              <a:p>
                <a:pPr lvl="0" indent="0" marL="0">
                  <a:buNone/>
                </a:pPr>
                <a:br/>
                <a:r>
                  <a:rPr b="1"/>
                  <a:t>Matriks Identifikasi Area Optimasi</a:t>
                </a:r>
                <a:br/>
                <a:r>
                  <a:rPr/>
                  <a:t>Kriteria 4.3.1</a:t>
                </a:r>
                <a:br/>
                <a:r>
                  <a:rPr/>
                  <a:t>Pemetaan hambatan &amp; potensi integrasi (Bab 2).</a:t>
                </a:r>
              </a:p>
              <a:p>
                <a:pPr lvl="0" indent="0" marL="0">
                  <a:buNone/>
                </a:pPr>
                <a:br/>
                <a:r>
                  <a:rPr b="1"/>
                  <a:t>Diagram BPMN 2.0 (To-Be)</a:t>
                </a:r>
                <a:br/>
                <a:r>
                  <a:rPr/>
                  <a:t>Kriteria 4.3.2</a:t>
                </a:r>
                <a:br/>
                <a:r>
                  <a:rPr/>
                  <a:t>Alur kerja + Peta Pemicu Integrasi (Bab 3).</a:t>
                </a:r>
              </a:p>
              <a:p>
                <a:pPr lvl="0" indent="0" marL="0">
                  <a:buNone/>
                </a:pPr>
                <a:br/>
                <a:r>
                  <a:rPr b="1"/>
                  <a:t>Draft SOP Digital Terintegrasi</a:t>
                </a:r>
                <a:br/>
                <a:r>
                  <a:rPr/>
                  <a:t>Kriteria 4.3.3</a:t>
                </a:r>
                <a:br/>
                <a:r>
                  <a:rPr/>
                  <a:t>8 Komponen wajib + metadata (Bab 4).</a:t>
                </a:r>
              </a:p>
              <a:p>
                <a:pPr lvl="0" indent="0" marL="0">
                  <a:buNone/>
                </a:pPr>
                <a:br/>
                <a:r>
                  <a:rPr b="1"/>
                  <a:t>KPI Tracker + Business Case</a:t>
                </a:r>
                <a:br/>
                <a:r>
                  <a:rPr/>
                  <a:t>Kriteria 4.3.4</a:t>
                </a:r>
                <a:br/>
                <a:r>
                  <a:rPr/>
                  <a:t>ROI + Action Plan 30 Hari (Bab 5).</a:t>
                </a:r>
              </a:p>
              <a:p>
                <a:pPr lvl="0" indent="0" marL="0">
                  <a:buNone/>
                </a:pPr>
                <a:r>
                  <a:rPr/>
                  <a:t>4 dokumen portofolio lengkap</a:t>
                </a:r>
              </a:p>
              <a:p>
                <a:pPr lvl="0" indent="0" marL="0">
                  <a:buNone/>
                </a:pPr>
                <a:r>
                  <a:rPr/>
                  <a:t>Skor rubrik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≥</m:t>
                    </m:r>
                  </m:oMath>
                </a14:m>
                <a:r>
                  <a:rPr/>
                  <a:t> 70/100</a:t>
                </a:r>
              </a:p>
              <a:p>
                <a:pPr lvl="0" indent="0" marL="0">
                  <a:buNone/>
                </a:pPr>
                <a:r>
                  <a:rPr/>
                  <a:t>Post-test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≥</m:t>
                    </m:r>
                  </m:oMath>
                </a14:m>
                <a:r>
                  <a:rPr/>
                  <a:t> 65</a:t>
                </a:r>
              </a:p>
              <a:p>
                <a:pPr lvl="0" indent="0" marL="0">
                  <a:buNone/>
                </a:pPr>
                <a:r>
                  <a:rPr/>
                  <a:t>Komitmen tindak lanjut tertulis</a:t>
                </a:r>
              </a:p>
              <a:p>
                <a:pPr lvl="0" indent="0" marL="0">
                  <a:buNone/>
                </a:pPr>
                <a:r>
                  <a:rPr/>
                  <a:t>Executive Tollgate: Matriks Keputusan Strategis</a:t>
                </a:r>
              </a:p>
              <a:p>
                <a:pPr lvl="0"/>
                <a:r>
                  <a:rPr b="1"/>
                  <a:t>G1: Legal</a:t>
                </a:r>
                <a:r>
                  <a:rPr/>
                  <a:t> — Apakah alur kerja selaras dengan tata naskah dinas &amp; ISO 15489?</a:t>
                </a:r>
              </a:p>
              <a:p>
                <a:pPr lvl="0"/>
                <a:r>
                  <a:rPr b="1"/>
                  <a:t>G2: Integrity</a:t>
                </a:r>
                <a:r>
                  <a:rPr/>
                  <a:t> — Apakah </a:t>
                </a:r>
                <a:r>
                  <a:rPr i="1"/>
                  <a:t>audit trail</a:t>
                </a:r>
                <a:r>
                  <a:rPr/>
                  <a:t> &amp; TTE sudah menjamin keaslian arsip?</a:t>
                </a:r>
              </a:p>
              <a:p>
                <a:pPr lvl="0"/>
                <a:r>
                  <a:rPr b="1"/>
                  <a:t>G3: Value</a:t>
                </a:r>
                <a:r>
                  <a:rPr/>
                  <a:t> — Apakah potensi efisiensi (</a:t>
                </a:r>
                <a:r>
                  <a:rPr i="1"/>
                  <a:t>time/cost</a:t>
                </a:r>
                <a:r>
                  <a:rPr/>
                  <a:t>) sudah tervalidasi?</a:t>
                </a:r>
              </a:p>
              <a:p>
                <a:pPr lvl="0"/>
                <a:r>
                  <a:rPr b="1"/>
                  <a:t>G4: Scale</a:t>
                </a:r>
                <a:r>
                  <a:rPr/>
                  <a:t> — Apakah infrastruktur IT siap untuk volume data jangka panjang?</a:t>
                </a:r>
              </a:p>
              <a:p>
                <a:pPr lvl="0" indent="0" marL="0">
                  <a:buNone/>
                </a:pPr>
                <a:r>
                  <a:rPr/>
                  <a:t>Jika salah satu gate bernilai </a:t>
                </a:r>
                <a:r>
                  <a:rPr b="1"/>
                  <a:t>"No"</a:t>
                </a:r>
                <a:r>
                  <a:rPr/>
                  <a:t>, segera lakukan re-evaluasi pada Bab Diagnosis atau Bab Desain SOP sebelum melanjutkan implementasi.</a:t>
                </a:r>
              </a:p>
              <a:p>
                <a:pPr lvl="0" indent="0" marL="0">
                  <a:buNone/>
                </a:pPr>
                <a:r>
                  <a:rPr/>
                  <a:t>Refleksi Pembelajaran &amp; Komitmen Tindak Lanjut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Apa </a:t>
                </a:r>
                <a:r>
                  <a:rPr b="1"/>
                  <a:t>1 proses kearsipan</a:t>
                </a:r>
                <a:r>
                  <a:rPr/>
                  <a:t> yang paling mendesak untuk dioptimalkan di unit Anda?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Siapa </a:t>
                </a:r>
                <a:r>
                  <a:rPr b="1"/>
                  <a:t>pemangku kepentingan kunci</a:t>
                </a:r>
                <a:r>
                  <a:rPr/>
                  <a:t> (IT, GCG, Operasional) yang perlu dilibatkan sejak awal?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Hambatan budaya</a:t>
                </a:r>
                <a:r>
                  <a:rPr/>
                  <a:t> atau prosedur apa yang paling mungkin muncul, dan bagaimana mitigasinya?</a:t>
                </a:r>
              </a:p>
              <a:p>
                <a:pPr lvl="0" indent="0" marL="0">
                  <a:buNone/>
                </a:pPr>
                <a:r>
                  <a:rPr/>
                  <a:t>Saya, , menyatakan akan menginisiasi pilot optimalisasi alur kerja pada proses  dengan target KPI  dan melaporkan hasil monitoring kepada  paling lambat tanggal .</a:t>
                </a:r>
              </a:p>
              <a:p>
                <a:pPr lvl="0" indent="0" marL="0">
                  <a:buNone/>
                </a:pPr>
                <a:r>
                  <a:rPr b="1"/>
                  <a:t>TERIMA KASIH</a:t>
                </a:r>
                <a:br/>
                <a:r>
                  <a:rPr/>
                  <a:t>Mari Menuju Ekosistem Informasi yang Adaptif dan Otentik!</a:t>
                </a:r>
                <a:br/>
                <a:r>
                  <a:rPr i="1"/>
                  <a:t>“Optimalisasi hari ini untuk Keandalan hari esok.”</a:t>
                </a:r>
              </a:p>
              <a:p>
                <a:pPr lvl="0"/>
                <a:r>
                  <a:rPr/>
                  <a:t>Kerjakan </a:t>
                </a:r>
                <a:r>
                  <a:rPr b="1"/>
                  <a:t>Post-Test</a:t>
                </a:r>
                <a:r>
                  <a:rPr/>
                  <a:t> (10 soal)</a:t>
                </a:r>
              </a:p>
              <a:p>
                <a:pPr lvl="0"/>
                <a:r>
                  <a:rPr/>
                  <a:t>Kumpulkan </a:t>
                </a:r>
                <a:r>
                  <a:rPr b="1"/>
                  <a:t>4 portofolio</a:t>
                </a:r>
                <a:r>
                  <a:rPr/>
                  <a:t> ke Unit Kearsipan</a:t>
                </a:r>
              </a:p>
              <a:p>
                <a:pPr lvl="0"/>
                <a:r>
                  <a:rPr/>
                  <a:t>Jadwalkan </a:t>
                </a:r>
                <a:r>
                  <a:rPr b="1"/>
                  <a:t>Peer Review Session</a:t>
                </a:r>
                <a:r>
                  <a:rPr/>
                  <a:t> antar unit</a:t>
                </a:r>
              </a:p>
              <a:p>
                <a:pPr lvl="0"/>
                <a:r>
                  <a:rPr/>
                  <a:t>Gunakan modul sebagai acuan </a:t>
                </a:r>
                <a:r>
                  <a:rPr b="1"/>
                  <a:t>Rencana Peningkatan Tahunan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Optimalisasi Prosedur &amp; Alur Kerja Terintegrasi</dc:title>
  <dc:creator>Fasilitator Utama</dc:creator>
  <cp:keywords/>
  <dcterms:created xsi:type="dcterms:W3CDTF">2026-04-24T21:18:48Z</dcterms:created>
  <dcterms:modified xsi:type="dcterms:W3CDTF">2026-04-24T21:18:48Z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April 2026</vt:lpwstr>
  </property>
  <property fmtid="{D5CDD505-2E9C-101B-9397-08002B2CF9AE}" pid="3" name="subtitle">
    <vt:lpwstr>Modul Pelatihan Level 4 (Mastery) – Transformasi Tata Kelola Kearsipan PT PLN (Persero)</vt:lpwstr>
  </property>
</Properties>
</file>